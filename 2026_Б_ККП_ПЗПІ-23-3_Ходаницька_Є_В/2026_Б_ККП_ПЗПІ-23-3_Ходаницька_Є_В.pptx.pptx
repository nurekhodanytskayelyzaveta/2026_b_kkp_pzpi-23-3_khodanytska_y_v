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Evolventa" charset="1" panose="020B0502020202020204"/>
      <p:regular r:id="rId18"/>
    </p:embeddedFont>
    <p:embeddedFont>
      <p:font typeface="Open Sans" charset="1" panose="00000000000000000000"/>
      <p:regular r:id="rId19"/>
    </p:embeddedFont>
    <p:embeddedFont>
      <p:font typeface="Arial" charset="1" panose="020B06040202020202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5.png" Type="http://schemas.openxmlformats.org/officeDocument/2006/relationships/image"/><Relationship Id="rId5" Target="../embeddings/oleObject1.bin" Type="http://schemas.openxmlformats.org/officeDocument/2006/relationships/oleObjec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 Id="rId6" Target="../media/image1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15.png" Type="http://schemas.openxmlformats.org/officeDocument/2006/relationships/image"/><Relationship Id="rId7" Target="../media/image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567203" y="1642596"/>
            <a:ext cx="2220401" cy="2307050"/>
            <a:chOff x="0" y="0"/>
            <a:chExt cx="2960535" cy="3076067"/>
          </a:xfrm>
        </p:grpSpPr>
        <p:sp>
          <p:nvSpPr>
            <p:cNvPr name="Freeform 3" id="3"/>
            <p:cNvSpPr/>
            <p:nvPr/>
          </p:nvSpPr>
          <p:spPr>
            <a:xfrm flipH="false" flipV="false" rot="0">
              <a:off x="0" y="0"/>
              <a:ext cx="2922397" cy="3037967"/>
            </a:xfrm>
            <a:custGeom>
              <a:avLst/>
              <a:gdLst/>
              <a:ahLst/>
              <a:cxnLst/>
              <a:rect r="r" b="b" t="t" l="l"/>
              <a:pathLst>
                <a:path h="3037967" w="2922397">
                  <a:moveTo>
                    <a:pt x="0" y="3037967"/>
                  </a:moveTo>
                  <a:lnTo>
                    <a:pt x="0" y="38100"/>
                  </a:lnTo>
                  <a:cubicBezTo>
                    <a:pt x="0" y="17018"/>
                    <a:pt x="17018" y="0"/>
                    <a:pt x="38100" y="0"/>
                  </a:cubicBezTo>
                  <a:lnTo>
                    <a:pt x="2922397" y="0"/>
                  </a:lnTo>
                  <a:lnTo>
                    <a:pt x="2922397" y="76200"/>
                  </a:lnTo>
                  <a:lnTo>
                    <a:pt x="38100" y="76200"/>
                  </a:lnTo>
                  <a:lnTo>
                    <a:pt x="38100" y="38100"/>
                  </a:lnTo>
                  <a:lnTo>
                    <a:pt x="76200" y="38100"/>
                  </a:lnTo>
                  <a:lnTo>
                    <a:pt x="76200" y="3037967"/>
                  </a:lnTo>
                  <a:close/>
                </a:path>
              </a:pathLst>
            </a:custGeom>
            <a:solidFill>
              <a:srgbClr val="CCA677"/>
            </a:solidFill>
          </p:spPr>
        </p:sp>
      </p:grpSp>
      <p:grpSp>
        <p:nvGrpSpPr>
          <p:cNvPr name="Group 4" id="4"/>
          <p:cNvGrpSpPr/>
          <p:nvPr/>
        </p:nvGrpSpPr>
        <p:grpSpPr>
          <a:xfrm rot="-10800000">
            <a:off x="11916604" y="6411954"/>
            <a:ext cx="2220401" cy="2307050"/>
            <a:chOff x="0" y="0"/>
            <a:chExt cx="2960535" cy="3076067"/>
          </a:xfrm>
        </p:grpSpPr>
        <p:sp>
          <p:nvSpPr>
            <p:cNvPr name="Freeform 5" id="5"/>
            <p:cNvSpPr/>
            <p:nvPr/>
          </p:nvSpPr>
          <p:spPr>
            <a:xfrm flipH="false" flipV="false" rot="0">
              <a:off x="0" y="0"/>
              <a:ext cx="2922397" cy="3037967"/>
            </a:xfrm>
            <a:custGeom>
              <a:avLst/>
              <a:gdLst/>
              <a:ahLst/>
              <a:cxnLst/>
              <a:rect r="r" b="b" t="t" l="l"/>
              <a:pathLst>
                <a:path h="3037967" w="2922397">
                  <a:moveTo>
                    <a:pt x="0" y="3037967"/>
                  </a:moveTo>
                  <a:lnTo>
                    <a:pt x="0" y="38100"/>
                  </a:lnTo>
                  <a:cubicBezTo>
                    <a:pt x="0" y="17018"/>
                    <a:pt x="17018" y="0"/>
                    <a:pt x="38100" y="0"/>
                  </a:cubicBezTo>
                  <a:lnTo>
                    <a:pt x="2922397" y="0"/>
                  </a:lnTo>
                  <a:lnTo>
                    <a:pt x="2922397" y="76200"/>
                  </a:lnTo>
                  <a:lnTo>
                    <a:pt x="38100" y="76200"/>
                  </a:lnTo>
                  <a:lnTo>
                    <a:pt x="38100" y="38100"/>
                  </a:lnTo>
                  <a:lnTo>
                    <a:pt x="76200" y="38100"/>
                  </a:lnTo>
                  <a:lnTo>
                    <a:pt x="76200" y="3037967"/>
                  </a:lnTo>
                  <a:close/>
                </a:path>
              </a:pathLst>
            </a:custGeom>
            <a:solidFill>
              <a:srgbClr val="CCA677"/>
            </a:solidFill>
          </p:spPr>
        </p:sp>
      </p:grpSp>
      <p:grpSp>
        <p:nvGrpSpPr>
          <p:cNvPr name="Group 6" id="6"/>
          <p:cNvGrpSpPr/>
          <p:nvPr/>
        </p:nvGrpSpPr>
        <p:grpSpPr>
          <a:xfrm rot="0">
            <a:off x="4379047" y="2039191"/>
            <a:ext cx="8438737" cy="2246040"/>
            <a:chOff x="0" y="0"/>
            <a:chExt cx="11251649" cy="2994720"/>
          </a:xfrm>
        </p:grpSpPr>
        <p:sp>
          <p:nvSpPr>
            <p:cNvPr name="Freeform 7" id="7"/>
            <p:cNvSpPr/>
            <p:nvPr/>
          </p:nvSpPr>
          <p:spPr>
            <a:xfrm flipH="false" flipV="false" rot="0">
              <a:off x="0" y="0"/>
              <a:ext cx="11251647" cy="2994726"/>
            </a:xfrm>
            <a:custGeom>
              <a:avLst/>
              <a:gdLst/>
              <a:ahLst/>
              <a:cxnLst/>
              <a:rect r="r" b="b" t="t" l="l"/>
              <a:pathLst>
                <a:path h="2994726" w="11251647">
                  <a:moveTo>
                    <a:pt x="0" y="0"/>
                  </a:moveTo>
                  <a:lnTo>
                    <a:pt x="11251647" y="0"/>
                  </a:lnTo>
                  <a:lnTo>
                    <a:pt x="11251647" y="2994726"/>
                  </a:lnTo>
                  <a:lnTo>
                    <a:pt x="0" y="2994726"/>
                  </a:lnTo>
                  <a:close/>
                </a:path>
              </a:pathLst>
            </a:custGeom>
            <a:blipFill>
              <a:blip r:embed="rId2">
                <a:alphaModFix amt="0"/>
              </a:blip>
              <a:stretch>
                <a:fillRect l="0" t="-37374" r="22237" b="23516"/>
              </a:stretch>
            </a:blipFill>
          </p:spPr>
        </p:sp>
        <p:sp>
          <p:nvSpPr>
            <p:cNvPr name="TextBox 8" id="8"/>
            <p:cNvSpPr txBox="true"/>
            <p:nvPr/>
          </p:nvSpPr>
          <p:spPr>
            <a:xfrm>
              <a:off x="0" y="-142875"/>
              <a:ext cx="11251649" cy="3137595"/>
            </a:xfrm>
            <a:prstGeom prst="rect">
              <a:avLst/>
            </a:prstGeom>
          </p:spPr>
          <p:txBody>
            <a:bodyPr anchor="b" rtlCol="false" tIns="0" lIns="0" bIns="0" rIns="0"/>
            <a:lstStyle/>
            <a:p>
              <a:pPr algn="ctr">
                <a:lnSpc>
                  <a:spcPts val="5400"/>
                </a:lnSpc>
              </a:pPr>
              <a:r>
                <a:rPr lang="en-US" sz="4500">
                  <a:solidFill>
                    <a:srgbClr val="000000"/>
                  </a:solidFill>
                  <a:latin typeface="Evolventa"/>
                  <a:ea typeface="Evolventa"/>
                  <a:cs typeface="Evolventa"/>
                  <a:sym typeface="Evolventa"/>
                </a:rPr>
                <a:t>Ігрове програмне забезпечення в жанрі Horror на рушії Unity</a:t>
              </a:r>
            </a:p>
          </p:txBody>
        </p:sp>
      </p:grpSp>
      <p:sp>
        <p:nvSpPr>
          <p:cNvPr name="TextBox 9" id="9"/>
          <p:cNvSpPr txBox="true"/>
          <p:nvPr/>
        </p:nvSpPr>
        <p:spPr>
          <a:xfrm rot="0">
            <a:off x="3567203" y="7153656"/>
            <a:ext cx="10569802" cy="2104644"/>
          </a:xfrm>
          <a:prstGeom prst="rect">
            <a:avLst/>
          </a:prstGeom>
        </p:spPr>
        <p:txBody>
          <a:bodyPr anchor="t" rtlCol="false" tIns="0" lIns="0" bIns="0" rIns="0">
            <a:spAutoFit/>
          </a:bodyPr>
          <a:lstStyle/>
          <a:p>
            <a:pPr algn="ctr">
              <a:lnSpc>
                <a:spcPts val="2688"/>
              </a:lnSpc>
            </a:pPr>
          </a:p>
          <a:p>
            <a:pPr algn="ctr">
              <a:lnSpc>
                <a:spcPts val="2688"/>
              </a:lnSpc>
            </a:pPr>
            <a:r>
              <a:rPr lang="en-US" sz="2800">
                <a:solidFill>
                  <a:srgbClr val="000000"/>
                </a:solidFill>
                <a:latin typeface="Evolventa"/>
                <a:ea typeface="Evolventa"/>
                <a:cs typeface="Evolventa"/>
                <a:sym typeface="Evolventa"/>
              </a:rPr>
              <a:t>Ходаницька Єлизавета Володимирівна ПЗПІ-23-3</a:t>
            </a:r>
          </a:p>
          <a:p>
            <a:pPr algn="ctr">
              <a:lnSpc>
                <a:spcPts val="2688"/>
              </a:lnSpc>
            </a:pPr>
            <a:r>
              <a:rPr lang="en-US" sz="2800">
                <a:solidFill>
                  <a:srgbClr val="000000"/>
                </a:solidFill>
                <a:latin typeface="Evolventa"/>
                <a:ea typeface="Evolventa"/>
                <a:cs typeface="Evolventa"/>
                <a:sym typeface="Evolventa"/>
              </a:rPr>
              <a:t>Керівник: ст.викл. кафедри ПІ Юрій Новіков</a:t>
            </a:r>
          </a:p>
          <a:p>
            <a:pPr algn="ctr">
              <a:lnSpc>
                <a:spcPts val="2688"/>
              </a:lnSpc>
            </a:pPr>
          </a:p>
          <a:p>
            <a:pPr algn="ctr">
              <a:lnSpc>
                <a:spcPts val="2688"/>
              </a:lnSpc>
            </a:pPr>
          </a:p>
          <a:p>
            <a:pPr algn="ctr">
              <a:lnSpc>
                <a:spcPts val="2688"/>
              </a:lnSpc>
            </a:pPr>
            <a:r>
              <a:rPr lang="en-US" sz="2800">
                <a:solidFill>
                  <a:srgbClr val="000000"/>
                </a:solidFill>
                <a:latin typeface="Evolventa"/>
                <a:ea typeface="Evolventa"/>
                <a:cs typeface="Evolventa"/>
                <a:sym typeface="Evolventa"/>
              </a:rPr>
              <a:t>1 червня 2025</a:t>
            </a:r>
          </a:p>
        </p:txBody>
      </p:sp>
      <p:grpSp>
        <p:nvGrpSpPr>
          <p:cNvPr name="Group 10" id="10"/>
          <p:cNvGrpSpPr/>
          <p:nvPr/>
        </p:nvGrpSpPr>
        <p:grpSpPr>
          <a:xfrm rot="0">
            <a:off x="537848" y="8719004"/>
            <a:ext cx="1724501" cy="1163498"/>
            <a:chOff x="0" y="0"/>
            <a:chExt cx="2299335" cy="1551330"/>
          </a:xfrm>
        </p:grpSpPr>
        <p:sp>
          <p:nvSpPr>
            <p:cNvPr name="Freeform 11" id="11"/>
            <p:cNvSpPr/>
            <p:nvPr/>
          </p:nvSpPr>
          <p:spPr>
            <a:xfrm flipH="false" flipV="false" rot="0">
              <a:off x="0" y="0"/>
              <a:ext cx="2299335" cy="1551305"/>
            </a:xfrm>
            <a:custGeom>
              <a:avLst/>
              <a:gdLst/>
              <a:ahLst/>
              <a:cxnLst/>
              <a:rect r="r" b="b" t="t" l="l"/>
              <a:pathLst>
                <a:path h="1551305" w="2299335">
                  <a:moveTo>
                    <a:pt x="0" y="0"/>
                  </a:moveTo>
                  <a:lnTo>
                    <a:pt x="2299335" y="0"/>
                  </a:lnTo>
                  <a:lnTo>
                    <a:pt x="2299335" y="1551305"/>
                  </a:lnTo>
                  <a:lnTo>
                    <a:pt x="0" y="1551305"/>
                  </a:lnTo>
                  <a:lnTo>
                    <a:pt x="0" y="0"/>
                  </a:lnTo>
                  <a:close/>
                </a:path>
              </a:pathLst>
            </a:custGeom>
            <a:blipFill>
              <a:blip r:embed="rId3"/>
              <a:stretch>
                <a:fillRect l="0" t="0" r="0" b="-2"/>
              </a:stretch>
            </a:blipFill>
          </p:spPr>
        </p:sp>
      </p:grpSp>
      <p:grpSp>
        <p:nvGrpSpPr>
          <p:cNvPr name="Group 12" id="12"/>
          <p:cNvGrpSpPr/>
          <p:nvPr/>
        </p:nvGrpSpPr>
        <p:grpSpPr>
          <a:xfrm rot="0">
            <a:off x="409451" y="341652"/>
            <a:ext cx="4267952" cy="779555"/>
            <a:chOff x="0" y="0"/>
            <a:chExt cx="5690603" cy="1039406"/>
          </a:xfrm>
        </p:grpSpPr>
        <p:sp>
          <p:nvSpPr>
            <p:cNvPr name="Freeform 13" id="13"/>
            <p:cNvSpPr/>
            <p:nvPr/>
          </p:nvSpPr>
          <p:spPr>
            <a:xfrm flipH="false" flipV="false" rot="0">
              <a:off x="0" y="0"/>
              <a:ext cx="5690616" cy="1039368"/>
            </a:xfrm>
            <a:custGeom>
              <a:avLst/>
              <a:gdLst/>
              <a:ahLst/>
              <a:cxnLst/>
              <a:rect r="r" b="b" t="t" l="l"/>
              <a:pathLst>
                <a:path h="1039368" w="5690616">
                  <a:moveTo>
                    <a:pt x="0" y="0"/>
                  </a:moveTo>
                  <a:lnTo>
                    <a:pt x="5690616" y="0"/>
                  </a:lnTo>
                  <a:lnTo>
                    <a:pt x="5690616" y="1039368"/>
                  </a:lnTo>
                  <a:lnTo>
                    <a:pt x="0" y="1039368"/>
                  </a:lnTo>
                  <a:lnTo>
                    <a:pt x="0" y="0"/>
                  </a:lnTo>
                  <a:close/>
                </a:path>
              </a:pathLst>
            </a:custGeom>
            <a:blipFill>
              <a:blip r:embed="rId4"/>
              <a:stretch>
                <a:fillRect l="-1" t="0" r="0" b="-3"/>
              </a:stretch>
            </a:blipFill>
          </p:spPr>
        </p:sp>
      </p:grpSp>
      <p:grpSp>
        <p:nvGrpSpPr>
          <p:cNvPr name="Group 14" id="14"/>
          <p:cNvGrpSpPr/>
          <p:nvPr/>
        </p:nvGrpSpPr>
        <p:grpSpPr>
          <a:xfrm rot="0">
            <a:off x="14137005" y="341652"/>
            <a:ext cx="3849843" cy="878348"/>
            <a:chOff x="0" y="0"/>
            <a:chExt cx="5133124" cy="1171130"/>
          </a:xfrm>
        </p:grpSpPr>
        <p:sp>
          <p:nvSpPr>
            <p:cNvPr name="Freeform 15" id="15"/>
            <p:cNvSpPr/>
            <p:nvPr/>
          </p:nvSpPr>
          <p:spPr>
            <a:xfrm flipH="false" flipV="false" rot="0">
              <a:off x="0" y="0"/>
              <a:ext cx="5133086" cy="1171194"/>
            </a:xfrm>
            <a:custGeom>
              <a:avLst/>
              <a:gdLst/>
              <a:ahLst/>
              <a:cxnLst/>
              <a:rect r="r" b="b" t="t" l="l"/>
              <a:pathLst>
                <a:path h="1171194" w="5133086">
                  <a:moveTo>
                    <a:pt x="0" y="0"/>
                  </a:moveTo>
                  <a:lnTo>
                    <a:pt x="5133086" y="0"/>
                  </a:lnTo>
                  <a:lnTo>
                    <a:pt x="5133086" y="1171194"/>
                  </a:lnTo>
                  <a:lnTo>
                    <a:pt x="0" y="1171194"/>
                  </a:lnTo>
                  <a:lnTo>
                    <a:pt x="0" y="0"/>
                  </a:lnTo>
                  <a:close/>
                </a:path>
              </a:pathLst>
            </a:custGeom>
            <a:blipFill>
              <a:blip r:embed="rId5"/>
              <a:stretch>
                <a:fillRect l="0" t="0" r="0" b="5"/>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91404"/>
            <a:ext cx="18288000" cy="195596"/>
            <a:chOff x="0" y="0"/>
            <a:chExt cx="24384000" cy="260794"/>
          </a:xfrm>
        </p:grpSpPr>
        <p:sp>
          <p:nvSpPr>
            <p:cNvPr name="Freeform 3" id="3"/>
            <p:cNvSpPr/>
            <p:nvPr/>
          </p:nvSpPr>
          <p:spPr>
            <a:xfrm flipH="false" flipV="false" rot="0">
              <a:off x="0" y="0"/>
              <a:ext cx="24384000" cy="260858"/>
            </a:xfrm>
            <a:custGeom>
              <a:avLst/>
              <a:gdLst/>
              <a:ahLst/>
              <a:cxnLst/>
              <a:rect r="r" b="b" t="t" l="l"/>
              <a:pathLst>
                <a:path h="260858" w="24384000">
                  <a:moveTo>
                    <a:pt x="0" y="0"/>
                  </a:moveTo>
                  <a:lnTo>
                    <a:pt x="24384000" y="0"/>
                  </a:lnTo>
                  <a:lnTo>
                    <a:pt x="24384000" y="260858"/>
                  </a:lnTo>
                  <a:lnTo>
                    <a:pt x="0" y="260858"/>
                  </a:lnTo>
                  <a:close/>
                </a:path>
              </a:pathLst>
            </a:custGeom>
            <a:solidFill>
              <a:srgbClr val="CCA677"/>
            </a:solidFill>
          </p:spPr>
        </p:sp>
      </p:grpSp>
      <p:grpSp>
        <p:nvGrpSpPr>
          <p:cNvPr name="Group 4" id="4"/>
          <p:cNvGrpSpPr/>
          <p:nvPr/>
        </p:nvGrpSpPr>
        <p:grpSpPr>
          <a:xfrm rot="0">
            <a:off x="1028700" y="197400"/>
            <a:ext cx="17041197" cy="1662600"/>
            <a:chOff x="0" y="0"/>
            <a:chExt cx="22721595" cy="2216800"/>
          </a:xfrm>
        </p:grpSpPr>
        <p:sp>
          <p:nvSpPr>
            <p:cNvPr name="Freeform 5" id="5"/>
            <p:cNvSpPr/>
            <p:nvPr/>
          </p:nvSpPr>
          <p:spPr>
            <a:xfrm flipH="false" flipV="false" rot="0">
              <a:off x="0" y="0"/>
              <a:ext cx="22721601" cy="2216802"/>
            </a:xfrm>
            <a:custGeom>
              <a:avLst/>
              <a:gdLst/>
              <a:ahLst/>
              <a:cxnLst/>
              <a:rect r="r" b="b" t="t" l="l"/>
              <a:pathLst>
                <a:path h="2216802" w="22721601">
                  <a:moveTo>
                    <a:pt x="0" y="0"/>
                  </a:moveTo>
                  <a:lnTo>
                    <a:pt x="22721601" y="0"/>
                  </a:lnTo>
                  <a:lnTo>
                    <a:pt x="22721601" y="2216802"/>
                  </a:lnTo>
                  <a:lnTo>
                    <a:pt x="0" y="2216802"/>
                  </a:lnTo>
                  <a:close/>
                </a:path>
              </a:pathLst>
            </a:custGeom>
            <a:blipFill>
              <a:blip r:embed="rId2">
                <a:alphaModFix amt="0"/>
              </a:blip>
              <a:stretch>
                <a:fillRect l="0" t="-149716" r="0" b="-149716"/>
              </a:stretch>
            </a:blipFill>
          </p:spPr>
        </p:sp>
        <p:sp>
          <p:nvSpPr>
            <p:cNvPr name="TextBox 6" id="6"/>
            <p:cNvSpPr txBox="true"/>
            <p:nvPr/>
          </p:nvSpPr>
          <p:spPr>
            <a:xfrm>
              <a:off x="0" y="-200025"/>
              <a:ext cx="22721595" cy="2416825"/>
            </a:xfrm>
            <a:prstGeom prst="rect">
              <a:avLst/>
            </a:prstGeom>
          </p:spPr>
          <p:txBody>
            <a:bodyPr anchor="b" rtlCol="false" tIns="0" lIns="0" bIns="0" rIns="0"/>
            <a:lstStyle/>
            <a:p>
              <a:pPr algn="l">
                <a:lnSpc>
                  <a:spcPts val="7680"/>
                </a:lnSpc>
              </a:pPr>
              <a:r>
                <a:rPr lang="en-US" sz="6400">
                  <a:solidFill>
                    <a:srgbClr val="000000"/>
                  </a:solidFill>
                  <a:latin typeface="Evolventa"/>
                  <a:ea typeface="Evolventa"/>
                  <a:cs typeface="Evolventa"/>
                  <a:sym typeface="Evolventa"/>
                </a:rPr>
                <a:t>Мета роботи</a:t>
              </a:r>
            </a:p>
          </p:txBody>
        </p:sp>
      </p:grpSp>
      <p:sp>
        <p:nvSpPr>
          <p:cNvPr name="TextBox 7" id="7"/>
          <p:cNvSpPr txBox="true"/>
          <p:nvPr/>
        </p:nvSpPr>
        <p:spPr>
          <a:xfrm rot="0">
            <a:off x="1246131" y="2510790"/>
            <a:ext cx="15795738" cy="5741670"/>
          </a:xfrm>
          <a:prstGeom prst="rect">
            <a:avLst/>
          </a:prstGeom>
        </p:spPr>
        <p:txBody>
          <a:bodyPr anchor="t" rtlCol="false" tIns="0" lIns="0" bIns="0" rIns="0">
            <a:spAutoFit/>
          </a:bodyPr>
          <a:lstStyle/>
          <a:p>
            <a:pPr algn="l">
              <a:lnSpc>
                <a:spcPts val="4140"/>
              </a:lnSpc>
            </a:pPr>
            <a:r>
              <a:rPr lang="en-US" sz="3000">
                <a:solidFill>
                  <a:srgbClr val="000000"/>
                </a:solidFill>
                <a:latin typeface="Open Sans"/>
                <a:ea typeface="Open Sans"/>
                <a:cs typeface="Open Sans"/>
                <a:sym typeface="Open Sans"/>
              </a:rPr>
              <a:t>Метою даної курсової робо</a:t>
            </a:r>
            <a:r>
              <a:rPr lang="en-US" sz="3000">
                <a:solidFill>
                  <a:srgbClr val="000000"/>
                </a:solidFill>
                <a:latin typeface="Open Sans"/>
                <a:ea typeface="Open Sans"/>
                <a:cs typeface="Open Sans"/>
                <a:sym typeface="Open Sans"/>
              </a:rPr>
              <a:t>ти є розробка мобільної 2D-гри у жанрі візуальної новели з елементами психологічного горору, яка реалізує сюжетно-орієнтований ігровий процес, систему вибору реплік та механіку рівня страху в атмосферному сюрреалістичному середовищі.</a:t>
            </a:r>
          </a:p>
          <a:p>
            <a:pPr algn="l">
              <a:lnSpc>
                <a:spcPts val="4140"/>
              </a:lnSpc>
            </a:pPr>
          </a:p>
          <a:p>
            <a:pPr algn="l">
              <a:lnSpc>
                <a:spcPts val="4140"/>
              </a:lnSpc>
            </a:pPr>
            <a:r>
              <a:rPr lang="en-US" sz="3000">
                <a:solidFill>
                  <a:srgbClr val="000000"/>
                </a:solidFill>
                <a:latin typeface="Open Sans"/>
                <a:ea typeface="Open Sans"/>
                <a:cs typeface="Open Sans"/>
                <a:sym typeface="Open Sans"/>
              </a:rPr>
              <a:t>Сучасні сюжетно-орієнтовані ігри та візуальні новели набувають все більшої популярності завдяки поєднанню інтерактивної подачі історії, емоційного занурення та можливості впливати на розвиток подій. Тематика психологічного горору залишається особливо привабливою для аудиторії через атмосферу напруги, невизначеності та емоційного впливу на користувача.</a:t>
            </a:r>
          </a:p>
          <a:p>
            <a:pPr algn="l">
              <a:lnSpc>
                <a:spcPts val="4140"/>
              </a:lnSpc>
            </a:pPr>
          </a:p>
        </p:txBody>
      </p:sp>
      <p:grpSp>
        <p:nvGrpSpPr>
          <p:cNvPr name="Group 8" id="8"/>
          <p:cNvGrpSpPr/>
          <p:nvPr/>
        </p:nvGrpSpPr>
        <p:grpSpPr>
          <a:xfrm rot="0">
            <a:off x="537848" y="8719004"/>
            <a:ext cx="1724501" cy="1163498"/>
            <a:chOff x="0" y="0"/>
            <a:chExt cx="2299335" cy="1551330"/>
          </a:xfrm>
        </p:grpSpPr>
        <p:sp>
          <p:nvSpPr>
            <p:cNvPr name="Freeform 9" id="9"/>
            <p:cNvSpPr/>
            <p:nvPr/>
          </p:nvSpPr>
          <p:spPr>
            <a:xfrm flipH="false" flipV="false" rot="0">
              <a:off x="0" y="0"/>
              <a:ext cx="2299335" cy="1551305"/>
            </a:xfrm>
            <a:custGeom>
              <a:avLst/>
              <a:gdLst/>
              <a:ahLst/>
              <a:cxnLst/>
              <a:rect r="r" b="b" t="t" l="l"/>
              <a:pathLst>
                <a:path h="1551305" w="2299335">
                  <a:moveTo>
                    <a:pt x="0" y="0"/>
                  </a:moveTo>
                  <a:lnTo>
                    <a:pt x="2299335" y="0"/>
                  </a:lnTo>
                  <a:lnTo>
                    <a:pt x="2299335" y="1551305"/>
                  </a:lnTo>
                  <a:lnTo>
                    <a:pt x="0" y="1551305"/>
                  </a:lnTo>
                  <a:lnTo>
                    <a:pt x="0" y="0"/>
                  </a:lnTo>
                  <a:close/>
                </a:path>
              </a:pathLst>
            </a:custGeom>
            <a:blipFill>
              <a:blip r:embed="rId3"/>
              <a:stretch>
                <a:fillRect l="0" t="0" r="0" b="-2"/>
              </a:stretch>
            </a:blipFill>
          </p:spPr>
        </p:sp>
      </p:grpSp>
      <p:sp>
        <p:nvSpPr>
          <p:cNvPr name="TextBox 10" id="10"/>
          <p:cNvSpPr txBox="true"/>
          <p:nvPr/>
        </p:nvSpPr>
        <p:spPr>
          <a:xfrm rot="0">
            <a:off x="17647920" y="9239364"/>
            <a:ext cx="385220" cy="543163"/>
          </a:xfrm>
          <a:prstGeom prst="rect">
            <a:avLst/>
          </a:prstGeom>
        </p:spPr>
        <p:txBody>
          <a:bodyPr anchor="t" rtlCol="false" tIns="0" lIns="0" bIns="0" rIns="0">
            <a:spAutoFit/>
          </a:bodyPr>
          <a:lstStyle/>
          <a:p>
            <a:pPr algn="l">
              <a:lnSpc>
                <a:spcPts val="3359"/>
              </a:lnSpc>
            </a:pPr>
            <a:r>
              <a:rPr lang="en-US" sz="2799">
                <a:solidFill>
                  <a:srgbClr val="000000"/>
                </a:solidFill>
                <a:latin typeface="Arial"/>
                <a:ea typeface="Arial"/>
                <a:cs typeface="Arial"/>
                <a:sym typeface="Arial"/>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91404"/>
            <a:ext cx="18288000" cy="195596"/>
            <a:chOff x="0" y="0"/>
            <a:chExt cx="24384000" cy="260794"/>
          </a:xfrm>
        </p:grpSpPr>
        <p:sp>
          <p:nvSpPr>
            <p:cNvPr name="Freeform 3" id="3"/>
            <p:cNvSpPr/>
            <p:nvPr/>
          </p:nvSpPr>
          <p:spPr>
            <a:xfrm flipH="false" flipV="false" rot="0">
              <a:off x="0" y="0"/>
              <a:ext cx="24384000" cy="260858"/>
            </a:xfrm>
            <a:custGeom>
              <a:avLst/>
              <a:gdLst/>
              <a:ahLst/>
              <a:cxnLst/>
              <a:rect r="r" b="b" t="t" l="l"/>
              <a:pathLst>
                <a:path h="260858" w="24384000">
                  <a:moveTo>
                    <a:pt x="0" y="0"/>
                  </a:moveTo>
                  <a:lnTo>
                    <a:pt x="24384000" y="0"/>
                  </a:lnTo>
                  <a:lnTo>
                    <a:pt x="24384000" y="260858"/>
                  </a:lnTo>
                  <a:lnTo>
                    <a:pt x="0" y="260858"/>
                  </a:lnTo>
                  <a:close/>
                </a:path>
              </a:pathLst>
            </a:custGeom>
            <a:solidFill>
              <a:srgbClr val="CCA677"/>
            </a:solidFill>
          </p:spPr>
        </p:sp>
      </p:grpSp>
      <p:grpSp>
        <p:nvGrpSpPr>
          <p:cNvPr name="Group 4" id="4"/>
          <p:cNvGrpSpPr/>
          <p:nvPr/>
        </p:nvGrpSpPr>
        <p:grpSpPr>
          <a:xfrm rot="0">
            <a:off x="623402" y="0"/>
            <a:ext cx="17041197" cy="1662600"/>
            <a:chOff x="0" y="0"/>
            <a:chExt cx="22721595" cy="2216800"/>
          </a:xfrm>
        </p:grpSpPr>
        <p:sp>
          <p:nvSpPr>
            <p:cNvPr name="Freeform 5" id="5"/>
            <p:cNvSpPr/>
            <p:nvPr/>
          </p:nvSpPr>
          <p:spPr>
            <a:xfrm flipH="false" flipV="false" rot="0">
              <a:off x="0" y="0"/>
              <a:ext cx="22721601" cy="2216802"/>
            </a:xfrm>
            <a:custGeom>
              <a:avLst/>
              <a:gdLst/>
              <a:ahLst/>
              <a:cxnLst/>
              <a:rect r="r" b="b" t="t" l="l"/>
              <a:pathLst>
                <a:path h="2216802" w="22721601">
                  <a:moveTo>
                    <a:pt x="0" y="0"/>
                  </a:moveTo>
                  <a:lnTo>
                    <a:pt x="22721601" y="0"/>
                  </a:lnTo>
                  <a:lnTo>
                    <a:pt x="22721601" y="2216802"/>
                  </a:lnTo>
                  <a:lnTo>
                    <a:pt x="0" y="2216802"/>
                  </a:lnTo>
                  <a:close/>
                </a:path>
              </a:pathLst>
            </a:custGeom>
            <a:blipFill>
              <a:blip r:embed="rId2">
                <a:alphaModFix amt="0"/>
              </a:blip>
              <a:stretch>
                <a:fillRect l="0" t="-149716" r="0" b="-149716"/>
              </a:stretch>
            </a:blipFill>
          </p:spPr>
        </p:sp>
        <p:sp>
          <p:nvSpPr>
            <p:cNvPr name="TextBox 6" id="6"/>
            <p:cNvSpPr txBox="true"/>
            <p:nvPr/>
          </p:nvSpPr>
          <p:spPr>
            <a:xfrm>
              <a:off x="0" y="-190500"/>
              <a:ext cx="22721595" cy="2407300"/>
            </a:xfrm>
            <a:prstGeom prst="rect">
              <a:avLst/>
            </a:prstGeom>
          </p:spPr>
          <p:txBody>
            <a:bodyPr anchor="b" rtlCol="false" tIns="0" lIns="0" bIns="0" rIns="0"/>
            <a:lstStyle/>
            <a:p>
              <a:pPr algn="l">
                <a:lnSpc>
                  <a:spcPts val="7200"/>
                </a:lnSpc>
              </a:pPr>
              <a:r>
                <a:rPr lang="en-US" sz="6000">
                  <a:solidFill>
                    <a:srgbClr val="000000"/>
                  </a:solidFill>
                  <a:latin typeface="Evolventa"/>
                  <a:ea typeface="Evolventa"/>
                  <a:cs typeface="Evolventa"/>
                  <a:sym typeface="Evolventa"/>
                </a:rPr>
                <a:t>Аналіз проблеми (аналіз існуючих рішень) </a:t>
              </a:r>
            </a:p>
          </p:txBody>
        </p:sp>
      </p:grpSp>
      <p:grpSp>
        <p:nvGrpSpPr>
          <p:cNvPr name="Group 7" id="7"/>
          <p:cNvGrpSpPr/>
          <p:nvPr/>
        </p:nvGrpSpPr>
        <p:grpSpPr>
          <a:xfrm rot="0">
            <a:off x="537848" y="8719004"/>
            <a:ext cx="1724501" cy="1163498"/>
            <a:chOff x="0" y="0"/>
            <a:chExt cx="2299335" cy="1551330"/>
          </a:xfrm>
        </p:grpSpPr>
        <p:sp>
          <p:nvSpPr>
            <p:cNvPr name="Freeform 8" id="8"/>
            <p:cNvSpPr/>
            <p:nvPr/>
          </p:nvSpPr>
          <p:spPr>
            <a:xfrm flipH="false" flipV="false" rot="0">
              <a:off x="0" y="0"/>
              <a:ext cx="2299335" cy="1551305"/>
            </a:xfrm>
            <a:custGeom>
              <a:avLst/>
              <a:gdLst/>
              <a:ahLst/>
              <a:cxnLst/>
              <a:rect r="r" b="b" t="t" l="l"/>
              <a:pathLst>
                <a:path h="1551305" w="2299335">
                  <a:moveTo>
                    <a:pt x="0" y="0"/>
                  </a:moveTo>
                  <a:lnTo>
                    <a:pt x="2299335" y="0"/>
                  </a:lnTo>
                  <a:lnTo>
                    <a:pt x="2299335" y="1551305"/>
                  </a:lnTo>
                  <a:lnTo>
                    <a:pt x="0" y="1551305"/>
                  </a:lnTo>
                  <a:lnTo>
                    <a:pt x="0" y="0"/>
                  </a:lnTo>
                  <a:close/>
                </a:path>
              </a:pathLst>
            </a:custGeom>
            <a:blipFill>
              <a:blip r:embed="rId3"/>
              <a:stretch>
                <a:fillRect l="0" t="0" r="0" b="-2"/>
              </a:stretch>
            </a:blipFill>
          </p:spPr>
        </p:sp>
      </p:grpSp>
      <p:graphicFrame>
        <p:nvGraphicFramePr>
          <p:cNvPr name="Object 9" id="9"/>
          <p:cNvGraphicFramePr/>
          <p:nvPr/>
        </p:nvGraphicFramePr>
        <p:xfrm>
          <a:off x="1355865" y="2143442"/>
          <a:ext cx="7586157" cy="4274588"/>
        </p:xfrm>
        <a:graphic>
          <a:graphicData uri="http://schemas.openxmlformats.org/presentationml/2006/ole">
            <p:oleObj imgW="9105900" imgH="57912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10" id="10"/>
          <p:cNvSpPr txBox="true"/>
          <p:nvPr/>
        </p:nvSpPr>
        <p:spPr>
          <a:xfrm rot="0">
            <a:off x="17647920" y="9239364"/>
            <a:ext cx="385220" cy="543163"/>
          </a:xfrm>
          <a:prstGeom prst="rect">
            <a:avLst/>
          </a:prstGeom>
        </p:spPr>
        <p:txBody>
          <a:bodyPr anchor="t" rtlCol="false" tIns="0" lIns="0" bIns="0" rIns="0">
            <a:spAutoFit/>
          </a:bodyPr>
          <a:lstStyle/>
          <a:p>
            <a:pPr algn="l">
              <a:lnSpc>
                <a:spcPts val="3359"/>
              </a:lnSpc>
            </a:pPr>
            <a:r>
              <a:rPr lang="en-US" sz="2799">
                <a:solidFill>
                  <a:srgbClr val="000000"/>
                </a:solidFill>
                <a:latin typeface="Arial"/>
                <a:ea typeface="Arial"/>
                <a:cs typeface="Arial"/>
                <a:sym typeface="Arial"/>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91404"/>
            <a:ext cx="18288000" cy="195596"/>
            <a:chOff x="0" y="0"/>
            <a:chExt cx="24384000" cy="260794"/>
          </a:xfrm>
        </p:grpSpPr>
        <p:sp>
          <p:nvSpPr>
            <p:cNvPr name="Freeform 3" id="3"/>
            <p:cNvSpPr/>
            <p:nvPr/>
          </p:nvSpPr>
          <p:spPr>
            <a:xfrm flipH="false" flipV="false" rot="0">
              <a:off x="0" y="0"/>
              <a:ext cx="24384000" cy="260858"/>
            </a:xfrm>
            <a:custGeom>
              <a:avLst/>
              <a:gdLst/>
              <a:ahLst/>
              <a:cxnLst/>
              <a:rect r="r" b="b" t="t" l="l"/>
              <a:pathLst>
                <a:path h="260858" w="24384000">
                  <a:moveTo>
                    <a:pt x="0" y="0"/>
                  </a:moveTo>
                  <a:lnTo>
                    <a:pt x="24384000" y="0"/>
                  </a:lnTo>
                  <a:lnTo>
                    <a:pt x="24384000" y="260858"/>
                  </a:lnTo>
                  <a:lnTo>
                    <a:pt x="0" y="260858"/>
                  </a:lnTo>
                  <a:close/>
                </a:path>
              </a:pathLst>
            </a:custGeom>
            <a:solidFill>
              <a:srgbClr val="CCA677"/>
            </a:solidFill>
          </p:spPr>
        </p:sp>
      </p:grpSp>
      <p:grpSp>
        <p:nvGrpSpPr>
          <p:cNvPr name="Group 4" id="4"/>
          <p:cNvGrpSpPr/>
          <p:nvPr/>
        </p:nvGrpSpPr>
        <p:grpSpPr>
          <a:xfrm rot="0">
            <a:off x="714823" y="0"/>
            <a:ext cx="17041197" cy="1662600"/>
            <a:chOff x="0" y="0"/>
            <a:chExt cx="22721595" cy="2216800"/>
          </a:xfrm>
        </p:grpSpPr>
        <p:sp>
          <p:nvSpPr>
            <p:cNvPr name="Freeform 5" id="5"/>
            <p:cNvSpPr/>
            <p:nvPr/>
          </p:nvSpPr>
          <p:spPr>
            <a:xfrm flipH="false" flipV="false" rot="0">
              <a:off x="0" y="0"/>
              <a:ext cx="22721601" cy="2216802"/>
            </a:xfrm>
            <a:custGeom>
              <a:avLst/>
              <a:gdLst/>
              <a:ahLst/>
              <a:cxnLst/>
              <a:rect r="r" b="b" t="t" l="l"/>
              <a:pathLst>
                <a:path h="2216802" w="22721601">
                  <a:moveTo>
                    <a:pt x="0" y="0"/>
                  </a:moveTo>
                  <a:lnTo>
                    <a:pt x="22721601" y="0"/>
                  </a:lnTo>
                  <a:lnTo>
                    <a:pt x="22721601" y="2216802"/>
                  </a:lnTo>
                  <a:lnTo>
                    <a:pt x="0" y="2216802"/>
                  </a:lnTo>
                  <a:close/>
                </a:path>
              </a:pathLst>
            </a:custGeom>
            <a:blipFill>
              <a:blip r:embed="rId2">
                <a:alphaModFix amt="0"/>
              </a:blip>
              <a:stretch>
                <a:fillRect l="0" t="-149716" r="0" b="-149716"/>
              </a:stretch>
            </a:blipFill>
          </p:spPr>
        </p:sp>
        <p:sp>
          <p:nvSpPr>
            <p:cNvPr name="TextBox 6" id="6"/>
            <p:cNvSpPr txBox="true"/>
            <p:nvPr/>
          </p:nvSpPr>
          <p:spPr>
            <a:xfrm>
              <a:off x="0" y="-190500"/>
              <a:ext cx="22721595" cy="2407300"/>
            </a:xfrm>
            <a:prstGeom prst="rect">
              <a:avLst/>
            </a:prstGeom>
          </p:spPr>
          <p:txBody>
            <a:bodyPr anchor="b" rtlCol="false" tIns="0" lIns="0" bIns="0" rIns="0"/>
            <a:lstStyle/>
            <a:p>
              <a:pPr algn="l">
                <a:lnSpc>
                  <a:spcPts val="7200"/>
                </a:lnSpc>
              </a:pPr>
              <a:r>
                <a:rPr lang="en-US" sz="6000">
                  <a:solidFill>
                    <a:srgbClr val="000000"/>
                  </a:solidFill>
                  <a:latin typeface="Evolventa"/>
                  <a:ea typeface="Evolventa"/>
                  <a:cs typeface="Evolventa"/>
                  <a:sym typeface="Evolventa"/>
                </a:rPr>
                <a:t>Постановка задачі та опис системи</a:t>
              </a:r>
            </a:p>
          </p:txBody>
        </p:sp>
      </p:grpSp>
      <p:sp>
        <p:nvSpPr>
          <p:cNvPr name="TextBox 7" id="7"/>
          <p:cNvSpPr txBox="true"/>
          <p:nvPr/>
        </p:nvSpPr>
        <p:spPr>
          <a:xfrm rot="0">
            <a:off x="1097850" y="2248853"/>
            <a:ext cx="16092300" cy="5741670"/>
          </a:xfrm>
          <a:prstGeom prst="rect">
            <a:avLst/>
          </a:prstGeom>
        </p:spPr>
        <p:txBody>
          <a:bodyPr anchor="t" rtlCol="false" tIns="0" lIns="0" bIns="0" rIns="0">
            <a:spAutoFit/>
          </a:bodyPr>
          <a:lstStyle/>
          <a:p>
            <a:pPr algn="l">
              <a:lnSpc>
                <a:spcPts val="4140"/>
              </a:lnSpc>
            </a:pPr>
            <a:r>
              <a:rPr lang="en-US" sz="3000">
                <a:solidFill>
                  <a:srgbClr val="0D0D0D"/>
                </a:solidFill>
                <a:latin typeface="Open Sans"/>
                <a:ea typeface="Open Sans"/>
                <a:cs typeface="Open Sans"/>
                <a:sym typeface="Open Sans"/>
              </a:rPr>
              <a:t>С</a:t>
            </a:r>
            <a:r>
              <a:rPr lang="en-US" sz="3000">
                <a:solidFill>
                  <a:srgbClr val="0D0D0D"/>
                </a:solidFill>
                <a:latin typeface="Open Sans"/>
                <a:ea typeface="Open Sans"/>
                <a:cs typeface="Open Sans"/>
                <a:sym typeface="Open Sans"/>
              </a:rPr>
              <a:t>творення демонстраційної версії мобільної гри у жанрі візуальної новели з елементами психологічного горору для Android.</a:t>
            </a:r>
          </a:p>
          <a:p>
            <a:pPr algn="l">
              <a:lnSpc>
                <a:spcPts val="4140"/>
              </a:lnSpc>
            </a:pPr>
          </a:p>
          <a:p>
            <a:pPr algn="l">
              <a:lnSpc>
                <a:spcPts val="4140"/>
              </a:lnSpc>
            </a:pPr>
            <a:r>
              <a:rPr lang="en-US" sz="3000">
                <a:solidFill>
                  <a:srgbClr val="0D0D0D"/>
                </a:solidFill>
                <a:latin typeface="Open Sans"/>
                <a:ea typeface="Open Sans"/>
                <a:cs typeface="Open Sans"/>
                <a:sym typeface="Open Sans"/>
              </a:rPr>
              <a:t>Розробка атмосферного інтерактивного досвіду із системою діалогів, вибором реплік та механікою рівня страху.</a:t>
            </a:r>
          </a:p>
          <a:p>
            <a:pPr algn="l">
              <a:lnSpc>
                <a:spcPts val="4140"/>
              </a:lnSpc>
            </a:pPr>
          </a:p>
          <a:p>
            <a:pPr algn="l">
              <a:lnSpc>
                <a:spcPts val="4140"/>
              </a:lnSpc>
            </a:pPr>
            <a:r>
              <a:rPr lang="en-US" sz="3000">
                <a:solidFill>
                  <a:srgbClr val="0D0D0D"/>
                </a:solidFill>
                <a:latin typeface="Open Sans"/>
                <a:ea typeface="Open Sans"/>
                <a:cs typeface="Open Sans"/>
                <a:sym typeface="Open Sans"/>
              </a:rPr>
              <a:t>Реалізація ключових механік: діалоги, pulse UI, візуальні ефекти, переходи між сценами та інтерактивний інтерфейс.</a:t>
            </a:r>
          </a:p>
          <a:p>
            <a:pPr algn="l">
              <a:lnSpc>
                <a:spcPts val="4140"/>
              </a:lnSpc>
            </a:pPr>
          </a:p>
          <a:p>
            <a:pPr algn="l">
              <a:lnSpc>
                <a:spcPts val="4140"/>
              </a:lnSpc>
            </a:pPr>
            <a:r>
              <a:rPr lang="en-US" sz="3000">
                <a:solidFill>
                  <a:srgbClr val="0D0D0D"/>
                </a:solidFill>
                <a:latin typeface="Open Sans"/>
                <a:ea typeface="Open Sans"/>
                <a:cs typeface="Open Sans"/>
                <a:sym typeface="Open Sans"/>
              </a:rPr>
              <a:t>Створення 2D-візуального стилю психологічного горору з атмосферними ефектами та адаптацією під сенсорне керування.</a:t>
            </a:r>
          </a:p>
        </p:txBody>
      </p:sp>
      <p:grpSp>
        <p:nvGrpSpPr>
          <p:cNvPr name="Group 8" id="8"/>
          <p:cNvGrpSpPr/>
          <p:nvPr/>
        </p:nvGrpSpPr>
        <p:grpSpPr>
          <a:xfrm rot="0">
            <a:off x="537848" y="8719004"/>
            <a:ext cx="1724501" cy="1163498"/>
            <a:chOff x="0" y="0"/>
            <a:chExt cx="2299335" cy="1551330"/>
          </a:xfrm>
        </p:grpSpPr>
        <p:sp>
          <p:nvSpPr>
            <p:cNvPr name="Freeform 9" id="9"/>
            <p:cNvSpPr/>
            <p:nvPr/>
          </p:nvSpPr>
          <p:spPr>
            <a:xfrm flipH="false" flipV="false" rot="0">
              <a:off x="0" y="0"/>
              <a:ext cx="2299335" cy="1551305"/>
            </a:xfrm>
            <a:custGeom>
              <a:avLst/>
              <a:gdLst/>
              <a:ahLst/>
              <a:cxnLst/>
              <a:rect r="r" b="b" t="t" l="l"/>
              <a:pathLst>
                <a:path h="1551305" w="2299335">
                  <a:moveTo>
                    <a:pt x="0" y="0"/>
                  </a:moveTo>
                  <a:lnTo>
                    <a:pt x="2299335" y="0"/>
                  </a:lnTo>
                  <a:lnTo>
                    <a:pt x="2299335" y="1551305"/>
                  </a:lnTo>
                  <a:lnTo>
                    <a:pt x="0" y="1551305"/>
                  </a:lnTo>
                  <a:lnTo>
                    <a:pt x="0" y="0"/>
                  </a:lnTo>
                  <a:close/>
                </a:path>
              </a:pathLst>
            </a:custGeom>
            <a:blipFill>
              <a:blip r:embed="rId3"/>
              <a:stretch>
                <a:fillRect l="0" t="0" r="0" b="-2"/>
              </a:stretch>
            </a:blipFill>
          </p:spPr>
        </p:sp>
      </p:grpSp>
      <p:sp>
        <p:nvSpPr>
          <p:cNvPr name="TextBox 10" id="10"/>
          <p:cNvSpPr txBox="true"/>
          <p:nvPr/>
        </p:nvSpPr>
        <p:spPr>
          <a:xfrm rot="0">
            <a:off x="17647920" y="9239364"/>
            <a:ext cx="385220" cy="543163"/>
          </a:xfrm>
          <a:prstGeom prst="rect">
            <a:avLst/>
          </a:prstGeom>
        </p:spPr>
        <p:txBody>
          <a:bodyPr anchor="t" rtlCol="false" tIns="0" lIns="0" bIns="0" rIns="0">
            <a:spAutoFit/>
          </a:bodyPr>
          <a:lstStyle/>
          <a:p>
            <a:pPr algn="l">
              <a:lnSpc>
                <a:spcPts val="3359"/>
              </a:lnSpc>
            </a:pPr>
            <a:r>
              <a:rPr lang="en-US" sz="2799">
                <a:solidFill>
                  <a:srgbClr val="000000"/>
                </a:solidFill>
                <a:latin typeface="Arial"/>
                <a:ea typeface="Arial"/>
                <a:cs typeface="Arial"/>
                <a:sym typeface="Arial"/>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91404"/>
            <a:ext cx="18288000" cy="195596"/>
            <a:chOff x="0" y="0"/>
            <a:chExt cx="24384000" cy="260794"/>
          </a:xfrm>
        </p:grpSpPr>
        <p:sp>
          <p:nvSpPr>
            <p:cNvPr name="Freeform 3" id="3"/>
            <p:cNvSpPr/>
            <p:nvPr/>
          </p:nvSpPr>
          <p:spPr>
            <a:xfrm flipH="false" flipV="false" rot="0">
              <a:off x="0" y="0"/>
              <a:ext cx="24384000" cy="260858"/>
            </a:xfrm>
            <a:custGeom>
              <a:avLst/>
              <a:gdLst/>
              <a:ahLst/>
              <a:cxnLst/>
              <a:rect r="r" b="b" t="t" l="l"/>
              <a:pathLst>
                <a:path h="260858" w="24384000">
                  <a:moveTo>
                    <a:pt x="0" y="0"/>
                  </a:moveTo>
                  <a:lnTo>
                    <a:pt x="24384000" y="0"/>
                  </a:lnTo>
                  <a:lnTo>
                    <a:pt x="24384000" y="260858"/>
                  </a:lnTo>
                  <a:lnTo>
                    <a:pt x="0" y="260858"/>
                  </a:lnTo>
                  <a:close/>
                </a:path>
              </a:pathLst>
            </a:custGeom>
            <a:solidFill>
              <a:srgbClr val="CCA677"/>
            </a:solidFill>
          </p:spPr>
        </p:sp>
      </p:grpSp>
      <p:grpSp>
        <p:nvGrpSpPr>
          <p:cNvPr name="Group 4" id="4"/>
          <p:cNvGrpSpPr/>
          <p:nvPr/>
        </p:nvGrpSpPr>
        <p:grpSpPr>
          <a:xfrm rot="0">
            <a:off x="714823" y="0"/>
            <a:ext cx="17041197" cy="1662600"/>
            <a:chOff x="0" y="0"/>
            <a:chExt cx="22721595" cy="2216800"/>
          </a:xfrm>
        </p:grpSpPr>
        <p:sp>
          <p:nvSpPr>
            <p:cNvPr name="Freeform 5" id="5"/>
            <p:cNvSpPr/>
            <p:nvPr/>
          </p:nvSpPr>
          <p:spPr>
            <a:xfrm flipH="false" flipV="false" rot="0">
              <a:off x="0" y="0"/>
              <a:ext cx="22721601" cy="2216802"/>
            </a:xfrm>
            <a:custGeom>
              <a:avLst/>
              <a:gdLst/>
              <a:ahLst/>
              <a:cxnLst/>
              <a:rect r="r" b="b" t="t" l="l"/>
              <a:pathLst>
                <a:path h="2216802" w="22721601">
                  <a:moveTo>
                    <a:pt x="0" y="0"/>
                  </a:moveTo>
                  <a:lnTo>
                    <a:pt x="22721601" y="0"/>
                  </a:lnTo>
                  <a:lnTo>
                    <a:pt x="22721601" y="2216802"/>
                  </a:lnTo>
                  <a:lnTo>
                    <a:pt x="0" y="2216802"/>
                  </a:lnTo>
                  <a:close/>
                </a:path>
              </a:pathLst>
            </a:custGeom>
            <a:blipFill>
              <a:blip r:embed="rId2">
                <a:alphaModFix amt="0"/>
              </a:blip>
              <a:stretch>
                <a:fillRect l="0" t="-149716" r="0" b="-149716"/>
              </a:stretch>
            </a:blipFill>
          </p:spPr>
        </p:sp>
        <p:sp>
          <p:nvSpPr>
            <p:cNvPr name="TextBox 6" id="6"/>
            <p:cNvSpPr txBox="true"/>
            <p:nvPr/>
          </p:nvSpPr>
          <p:spPr>
            <a:xfrm>
              <a:off x="0" y="-190500"/>
              <a:ext cx="22721595" cy="2407300"/>
            </a:xfrm>
            <a:prstGeom prst="rect">
              <a:avLst/>
            </a:prstGeom>
          </p:spPr>
          <p:txBody>
            <a:bodyPr anchor="b" rtlCol="false" tIns="0" lIns="0" bIns="0" rIns="0"/>
            <a:lstStyle/>
            <a:p>
              <a:pPr algn="l">
                <a:lnSpc>
                  <a:spcPts val="7200"/>
                </a:lnSpc>
              </a:pPr>
              <a:r>
                <a:rPr lang="en-US" sz="6000">
                  <a:solidFill>
                    <a:srgbClr val="000000"/>
                  </a:solidFill>
                  <a:latin typeface="Evolventa"/>
                  <a:ea typeface="Evolventa"/>
                  <a:cs typeface="Evolventa"/>
                  <a:sym typeface="Evolventa"/>
                </a:rPr>
                <a:t>Вибір технологій розробки </a:t>
              </a:r>
            </a:p>
          </p:txBody>
        </p:sp>
      </p:grpSp>
      <p:sp>
        <p:nvSpPr>
          <p:cNvPr name="TextBox 7" id="7"/>
          <p:cNvSpPr txBox="true"/>
          <p:nvPr/>
        </p:nvSpPr>
        <p:spPr>
          <a:xfrm rot="0">
            <a:off x="714823" y="2484730"/>
            <a:ext cx="16858355" cy="4244340"/>
          </a:xfrm>
          <a:prstGeom prst="rect">
            <a:avLst/>
          </a:prstGeom>
        </p:spPr>
        <p:txBody>
          <a:bodyPr anchor="t" rtlCol="false" tIns="0" lIns="0" bIns="0" rIns="0">
            <a:spAutoFit/>
          </a:bodyPr>
          <a:lstStyle/>
          <a:p>
            <a:pPr algn="l">
              <a:lnSpc>
                <a:spcPts val="4830"/>
              </a:lnSpc>
            </a:pPr>
            <a:r>
              <a:rPr lang="en-US" sz="3500">
                <a:solidFill>
                  <a:srgbClr val="0D0D0D"/>
                </a:solidFill>
                <a:latin typeface="Open Sans"/>
                <a:ea typeface="Open Sans"/>
                <a:cs typeface="Open Sans"/>
                <a:sym typeface="Open Sans"/>
              </a:rPr>
              <a:t>Рушій гри: Unity</a:t>
            </a:r>
          </a:p>
          <a:p>
            <a:pPr algn="l">
              <a:lnSpc>
                <a:spcPts val="4830"/>
              </a:lnSpc>
            </a:pPr>
            <a:r>
              <a:rPr lang="en-US" sz="3500">
                <a:solidFill>
                  <a:srgbClr val="0D0D0D"/>
                </a:solidFill>
                <a:latin typeface="Open Sans"/>
                <a:ea typeface="Open Sans"/>
                <a:cs typeface="Open Sans"/>
                <a:sym typeface="Open Sans"/>
              </a:rPr>
              <a:t>Ос</a:t>
            </a:r>
            <a:r>
              <a:rPr lang="en-US" sz="3500">
                <a:solidFill>
                  <a:srgbClr val="0D0D0D"/>
                </a:solidFill>
                <a:latin typeface="Open Sans"/>
                <a:ea typeface="Open Sans"/>
                <a:cs typeface="Open Sans"/>
                <a:sym typeface="Open Sans"/>
              </a:rPr>
              <a:t>новна мова програмування: C#</a:t>
            </a:r>
          </a:p>
          <a:p>
            <a:pPr algn="l">
              <a:lnSpc>
                <a:spcPts val="4830"/>
              </a:lnSpc>
            </a:pPr>
            <a:r>
              <a:rPr lang="en-US" sz="3500">
                <a:solidFill>
                  <a:srgbClr val="0D0D0D"/>
                </a:solidFill>
                <a:latin typeface="Open Sans"/>
                <a:ea typeface="Open Sans"/>
                <a:cs typeface="Open Sans"/>
                <a:sym typeface="Open Sans"/>
              </a:rPr>
              <a:t>Середовище розробки: Microsoft Visual Studio</a:t>
            </a:r>
          </a:p>
          <a:p>
            <a:pPr algn="l">
              <a:lnSpc>
                <a:spcPts val="4830"/>
              </a:lnSpc>
            </a:pPr>
            <a:r>
              <a:rPr lang="en-US" sz="3500">
                <a:solidFill>
                  <a:srgbClr val="0D0D0D"/>
                </a:solidFill>
                <a:latin typeface="Open Sans"/>
                <a:ea typeface="Open Sans"/>
                <a:cs typeface="Open Sans"/>
                <a:sym typeface="Open Sans"/>
              </a:rPr>
              <a:t>Збереження ігрових даних: JSON</a:t>
            </a:r>
          </a:p>
          <a:p>
            <a:pPr algn="l">
              <a:lnSpc>
                <a:spcPts val="4830"/>
              </a:lnSpc>
            </a:pPr>
            <a:r>
              <a:rPr lang="en-US" sz="3500">
                <a:solidFill>
                  <a:srgbClr val="0D0D0D"/>
                </a:solidFill>
                <a:latin typeface="Open Sans"/>
                <a:ea typeface="Open Sans"/>
                <a:cs typeface="Open Sans"/>
                <a:sym typeface="Open Sans"/>
              </a:rPr>
              <a:t>Графічні ресурси: створені та відредаговані у графічних редакторах і </a:t>
            </a:r>
          </a:p>
          <a:p>
            <a:pPr algn="l">
              <a:lnSpc>
                <a:spcPts val="4830"/>
              </a:lnSpc>
            </a:pPr>
            <a:r>
              <a:rPr lang="en-US" sz="3500">
                <a:solidFill>
                  <a:srgbClr val="0D0D0D"/>
                </a:solidFill>
                <a:latin typeface="Open Sans"/>
                <a:ea typeface="Open Sans"/>
                <a:cs typeface="Open Sans"/>
                <a:sym typeface="Open Sans"/>
              </a:rPr>
              <a:t>character maker-сервісах, Unity Assets</a:t>
            </a:r>
          </a:p>
          <a:p>
            <a:pPr algn="l">
              <a:lnSpc>
                <a:spcPts val="4830"/>
              </a:lnSpc>
            </a:pPr>
          </a:p>
        </p:txBody>
      </p:sp>
      <p:grpSp>
        <p:nvGrpSpPr>
          <p:cNvPr name="Group 8" id="8"/>
          <p:cNvGrpSpPr/>
          <p:nvPr/>
        </p:nvGrpSpPr>
        <p:grpSpPr>
          <a:xfrm rot="0">
            <a:off x="537848" y="8719004"/>
            <a:ext cx="1724501" cy="1163498"/>
            <a:chOff x="0" y="0"/>
            <a:chExt cx="2299335" cy="1551330"/>
          </a:xfrm>
        </p:grpSpPr>
        <p:sp>
          <p:nvSpPr>
            <p:cNvPr name="Freeform 9" id="9"/>
            <p:cNvSpPr/>
            <p:nvPr/>
          </p:nvSpPr>
          <p:spPr>
            <a:xfrm flipH="false" flipV="false" rot="0">
              <a:off x="0" y="0"/>
              <a:ext cx="2299335" cy="1551305"/>
            </a:xfrm>
            <a:custGeom>
              <a:avLst/>
              <a:gdLst/>
              <a:ahLst/>
              <a:cxnLst/>
              <a:rect r="r" b="b" t="t" l="l"/>
              <a:pathLst>
                <a:path h="1551305" w="2299335">
                  <a:moveTo>
                    <a:pt x="0" y="0"/>
                  </a:moveTo>
                  <a:lnTo>
                    <a:pt x="2299335" y="0"/>
                  </a:lnTo>
                  <a:lnTo>
                    <a:pt x="2299335" y="1551305"/>
                  </a:lnTo>
                  <a:lnTo>
                    <a:pt x="0" y="1551305"/>
                  </a:lnTo>
                  <a:lnTo>
                    <a:pt x="0" y="0"/>
                  </a:lnTo>
                  <a:close/>
                </a:path>
              </a:pathLst>
            </a:custGeom>
            <a:blipFill>
              <a:blip r:embed="rId3"/>
              <a:stretch>
                <a:fillRect l="0" t="0" r="0" b="-2"/>
              </a:stretch>
            </a:blipFill>
          </p:spPr>
        </p:sp>
      </p:grpSp>
      <p:sp>
        <p:nvSpPr>
          <p:cNvPr name="TextBox 10" id="10"/>
          <p:cNvSpPr txBox="true"/>
          <p:nvPr/>
        </p:nvSpPr>
        <p:spPr>
          <a:xfrm rot="0">
            <a:off x="17647920" y="9239364"/>
            <a:ext cx="385220" cy="543163"/>
          </a:xfrm>
          <a:prstGeom prst="rect">
            <a:avLst/>
          </a:prstGeom>
        </p:spPr>
        <p:txBody>
          <a:bodyPr anchor="t" rtlCol="false" tIns="0" lIns="0" bIns="0" rIns="0">
            <a:spAutoFit/>
          </a:bodyPr>
          <a:lstStyle/>
          <a:p>
            <a:pPr algn="l">
              <a:lnSpc>
                <a:spcPts val="3359"/>
              </a:lnSpc>
            </a:pPr>
            <a:r>
              <a:rPr lang="en-US" sz="2799">
                <a:solidFill>
                  <a:srgbClr val="000000"/>
                </a:solidFill>
                <a:latin typeface="Arial"/>
                <a:ea typeface="Arial"/>
                <a:cs typeface="Arial"/>
                <a:sym typeface="Arial"/>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91404"/>
            <a:ext cx="18288000" cy="195596"/>
            <a:chOff x="0" y="0"/>
            <a:chExt cx="24384000" cy="260794"/>
          </a:xfrm>
        </p:grpSpPr>
        <p:sp>
          <p:nvSpPr>
            <p:cNvPr name="Freeform 3" id="3"/>
            <p:cNvSpPr/>
            <p:nvPr/>
          </p:nvSpPr>
          <p:spPr>
            <a:xfrm flipH="false" flipV="false" rot="0">
              <a:off x="0" y="0"/>
              <a:ext cx="24384000" cy="260858"/>
            </a:xfrm>
            <a:custGeom>
              <a:avLst/>
              <a:gdLst/>
              <a:ahLst/>
              <a:cxnLst/>
              <a:rect r="r" b="b" t="t" l="l"/>
              <a:pathLst>
                <a:path h="260858" w="24384000">
                  <a:moveTo>
                    <a:pt x="0" y="0"/>
                  </a:moveTo>
                  <a:lnTo>
                    <a:pt x="24384000" y="0"/>
                  </a:lnTo>
                  <a:lnTo>
                    <a:pt x="24384000" y="260858"/>
                  </a:lnTo>
                  <a:lnTo>
                    <a:pt x="0" y="260858"/>
                  </a:lnTo>
                  <a:close/>
                </a:path>
              </a:pathLst>
            </a:custGeom>
            <a:solidFill>
              <a:srgbClr val="CCA677"/>
            </a:solidFill>
          </p:spPr>
        </p:sp>
      </p:grpSp>
      <p:grpSp>
        <p:nvGrpSpPr>
          <p:cNvPr name="Group 4" id="4"/>
          <p:cNvGrpSpPr/>
          <p:nvPr/>
        </p:nvGrpSpPr>
        <p:grpSpPr>
          <a:xfrm rot="0">
            <a:off x="537848" y="699316"/>
            <a:ext cx="17041197" cy="2080320"/>
            <a:chOff x="0" y="0"/>
            <a:chExt cx="22721595" cy="2773759"/>
          </a:xfrm>
        </p:grpSpPr>
        <p:sp>
          <p:nvSpPr>
            <p:cNvPr name="Freeform 5" id="5"/>
            <p:cNvSpPr/>
            <p:nvPr/>
          </p:nvSpPr>
          <p:spPr>
            <a:xfrm flipH="false" flipV="false" rot="0">
              <a:off x="0" y="0"/>
              <a:ext cx="22721601" cy="2773762"/>
            </a:xfrm>
            <a:custGeom>
              <a:avLst/>
              <a:gdLst/>
              <a:ahLst/>
              <a:cxnLst/>
              <a:rect r="r" b="b" t="t" l="l"/>
              <a:pathLst>
                <a:path h="2773762" w="22721601">
                  <a:moveTo>
                    <a:pt x="0" y="0"/>
                  </a:moveTo>
                  <a:lnTo>
                    <a:pt x="22721601" y="0"/>
                  </a:lnTo>
                  <a:lnTo>
                    <a:pt x="22721601" y="2773762"/>
                  </a:lnTo>
                  <a:lnTo>
                    <a:pt x="0" y="2773762"/>
                  </a:lnTo>
                  <a:close/>
                </a:path>
              </a:pathLst>
            </a:custGeom>
            <a:blipFill>
              <a:blip r:embed="rId2">
                <a:alphaModFix amt="0"/>
              </a:blip>
              <a:stretch>
                <a:fillRect l="0" t="-119653" r="0" b="-99574"/>
              </a:stretch>
            </a:blipFill>
          </p:spPr>
        </p:sp>
        <p:sp>
          <p:nvSpPr>
            <p:cNvPr name="TextBox 6" id="6"/>
            <p:cNvSpPr txBox="true"/>
            <p:nvPr/>
          </p:nvSpPr>
          <p:spPr>
            <a:xfrm>
              <a:off x="0" y="-190500"/>
              <a:ext cx="22721595" cy="2964259"/>
            </a:xfrm>
            <a:prstGeom prst="rect">
              <a:avLst/>
            </a:prstGeom>
          </p:spPr>
          <p:txBody>
            <a:bodyPr anchor="b" rtlCol="false" tIns="0" lIns="0" bIns="0" rIns="0"/>
            <a:lstStyle/>
            <a:p>
              <a:pPr algn="l">
                <a:lnSpc>
                  <a:spcPts val="7200"/>
                </a:lnSpc>
              </a:pPr>
              <a:r>
                <a:rPr lang="en-US" sz="6000">
                  <a:solidFill>
                    <a:srgbClr val="000000"/>
                  </a:solidFill>
                  <a:latin typeface="Evolventa"/>
                  <a:ea typeface="Evolventa"/>
                  <a:cs typeface="Evolventa"/>
                  <a:sym typeface="Evolventa"/>
                </a:rPr>
                <a:t>Архітектура створенного програмного забезпечення</a:t>
              </a:r>
            </a:p>
          </p:txBody>
        </p:sp>
      </p:grpSp>
      <p:sp>
        <p:nvSpPr>
          <p:cNvPr name="TextBox 7" id="7"/>
          <p:cNvSpPr txBox="true"/>
          <p:nvPr/>
        </p:nvSpPr>
        <p:spPr>
          <a:xfrm rot="0">
            <a:off x="537848" y="3048535"/>
            <a:ext cx="9510475" cy="4841367"/>
          </a:xfrm>
          <a:prstGeom prst="rect">
            <a:avLst/>
          </a:prstGeom>
        </p:spPr>
        <p:txBody>
          <a:bodyPr anchor="t" rtlCol="false" tIns="0" lIns="0" bIns="0" rIns="0">
            <a:spAutoFit/>
          </a:bodyPr>
          <a:lstStyle/>
          <a:p>
            <a:pPr algn="l">
              <a:lnSpc>
                <a:spcPts val="3864"/>
              </a:lnSpc>
            </a:pPr>
            <a:r>
              <a:rPr lang="en-US" sz="2800">
                <a:solidFill>
                  <a:srgbClr val="0D0D0D"/>
                </a:solidFill>
                <a:latin typeface="Open Sans"/>
                <a:ea typeface="Open Sans"/>
                <a:cs typeface="Open Sans"/>
                <a:sym typeface="Open Sans"/>
              </a:rPr>
              <a:t>DialogueUI</a:t>
            </a:r>
            <a:r>
              <a:rPr lang="en-US" sz="2800">
                <a:solidFill>
                  <a:srgbClr val="0D0D0D"/>
                </a:solidFill>
                <a:latin typeface="Open Sans"/>
                <a:ea typeface="Open Sans"/>
                <a:cs typeface="Open Sans"/>
                <a:sym typeface="Open Sans"/>
              </a:rPr>
              <a:t> – основна логіка координації діалогової системи.</a:t>
            </a:r>
          </a:p>
          <a:p>
            <a:pPr algn="l">
              <a:lnSpc>
                <a:spcPts val="3864"/>
              </a:lnSpc>
            </a:pPr>
            <a:r>
              <a:rPr lang="en-US" sz="2800">
                <a:solidFill>
                  <a:srgbClr val="0D0D0D"/>
                </a:solidFill>
                <a:latin typeface="Open Sans"/>
                <a:ea typeface="Open Sans"/>
                <a:cs typeface="Open Sans"/>
                <a:sym typeface="Open Sans"/>
              </a:rPr>
              <a:t>GameStats – зберігання стану гравця (fear, trust, BPM).</a:t>
            </a:r>
          </a:p>
          <a:p>
            <a:pPr algn="l">
              <a:lnSpc>
                <a:spcPts val="3864"/>
              </a:lnSpc>
            </a:pPr>
            <a:r>
              <a:rPr lang="en-US" sz="2800">
                <a:solidFill>
                  <a:srgbClr val="0D0D0D"/>
                </a:solidFill>
                <a:latin typeface="Open Sans"/>
                <a:ea typeface="Open Sans"/>
                <a:cs typeface="Open Sans"/>
                <a:sym typeface="Open Sans"/>
              </a:rPr>
              <a:t>PulseMonitor, HorrorEffects – керування візуальними ефектами та симуляцією пульсу.</a:t>
            </a:r>
          </a:p>
          <a:p>
            <a:pPr algn="l">
              <a:lnSpc>
                <a:spcPts val="3864"/>
              </a:lnSpc>
            </a:pPr>
            <a:r>
              <a:rPr lang="en-US" sz="2800">
                <a:solidFill>
                  <a:srgbClr val="0D0D0D"/>
                </a:solidFill>
                <a:latin typeface="Open Sans"/>
                <a:ea typeface="Open Sans"/>
                <a:cs typeface="Open Sans"/>
                <a:sym typeface="Open Sans"/>
              </a:rPr>
              <a:t>BackgroundController, MusicManager – керування фонами та аудіосупроводом.</a:t>
            </a:r>
          </a:p>
          <a:p>
            <a:pPr algn="l">
              <a:lnSpc>
                <a:spcPts val="3864"/>
              </a:lnSpc>
            </a:pPr>
            <a:r>
              <a:rPr lang="en-US" sz="2800">
                <a:solidFill>
                  <a:srgbClr val="0D0D0D"/>
                </a:solidFill>
                <a:latin typeface="Open Sans"/>
                <a:ea typeface="Open Sans"/>
                <a:cs typeface="Open Sans"/>
                <a:sym typeface="Open Sans"/>
              </a:rPr>
              <a:t>SettingsManager, CharacterPortrait – налаштування гравця та дані портретів персонажів.</a:t>
            </a:r>
          </a:p>
          <a:p>
            <a:pPr algn="l">
              <a:lnSpc>
                <a:spcPts val="3864"/>
              </a:lnSpc>
            </a:pPr>
          </a:p>
        </p:txBody>
      </p:sp>
      <p:grpSp>
        <p:nvGrpSpPr>
          <p:cNvPr name="Group 8" id="8"/>
          <p:cNvGrpSpPr/>
          <p:nvPr/>
        </p:nvGrpSpPr>
        <p:grpSpPr>
          <a:xfrm rot="0">
            <a:off x="537848" y="8719004"/>
            <a:ext cx="1724501" cy="1163498"/>
            <a:chOff x="0" y="0"/>
            <a:chExt cx="2299335" cy="1551330"/>
          </a:xfrm>
        </p:grpSpPr>
        <p:sp>
          <p:nvSpPr>
            <p:cNvPr name="Freeform 9" id="9"/>
            <p:cNvSpPr/>
            <p:nvPr/>
          </p:nvSpPr>
          <p:spPr>
            <a:xfrm flipH="false" flipV="false" rot="0">
              <a:off x="0" y="0"/>
              <a:ext cx="2299335" cy="1551305"/>
            </a:xfrm>
            <a:custGeom>
              <a:avLst/>
              <a:gdLst/>
              <a:ahLst/>
              <a:cxnLst/>
              <a:rect r="r" b="b" t="t" l="l"/>
              <a:pathLst>
                <a:path h="1551305" w="2299335">
                  <a:moveTo>
                    <a:pt x="0" y="0"/>
                  </a:moveTo>
                  <a:lnTo>
                    <a:pt x="2299335" y="0"/>
                  </a:lnTo>
                  <a:lnTo>
                    <a:pt x="2299335" y="1551305"/>
                  </a:lnTo>
                  <a:lnTo>
                    <a:pt x="0" y="1551305"/>
                  </a:lnTo>
                  <a:lnTo>
                    <a:pt x="0" y="0"/>
                  </a:lnTo>
                  <a:close/>
                </a:path>
              </a:pathLst>
            </a:custGeom>
            <a:blipFill>
              <a:blip r:embed="rId3"/>
              <a:stretch>
                <a:fillRect l="0" t="0" r="0" b="-2"/>
              </a:stretch>
            </a:blipFill>
          </p:spPr>
        </p:sp>
      </p:grpSp>
      <p:sp>
        <p:nvSpPr>
          <p:cNvPr name="Freeform 10" id="10"/>
          <p:cNvSpPr/>
          <p:nvPr/>
        </p:nvSpPr>
        <p:spPr>
          <a:xfrm flipH="false" flipV="false" rot="0">
            <a:off x="10593050" y="2124168"/>
            <a:ext cx="6235880" cy="6355189"/>
          </a:xfrm>
          <a:custGeom>
            <a:avLst/>
            <a:gdLst/>
            <a:ahLst/>
            <a:cxnLst/>
            <a:rect r="r" b="b" t="t" l="l"/>
            <a:pathLst>
              <a:path h="6355189" w="6235880">
                <a:moveTo>
                  <a:pt x="0" y="0"/>
                </a:moveTo>
                <a:lnTo>
                  <a:pt x="6235880" y="0"/>
                </a:lnTo>
                <a:lnTo>
                  <a:pt x="6235880" y="6355188"/>
                </a:lnTo>
                <a:lnTo>
                  <a:pt x="0" y="6355188"/>
                </a:lnTo>
                <a:lnTo>
                  <a:pt x="0" y="0"/>
                </a:lnTo>
                <a:close/>
              </a:path>
            </a:pathLst>
          </a:custGeom>
          <a:blipFill>
            <a:blip r:embed="rId4"/>
            <a:stretch>
              <a:fillRect l="0" t="0" r="0" b="0"/>
            </a:stretch>
          </a:blipFill>
        </p:spPr>
      </p:sp>
      <p:sp>
        <p:nvSpPr>
          <p:cNvPr name="TextBox 11" id="11"/>
          <p:cNvSpPr txBox="true"/>
          <p:nvPr/>
        </p:nvSpPr>
        <p:spPr>
          <a:xfrm rot="0">
            <a:off x="17647920" y="9239364"/>
            <a:ext cx="385220" cy="543163"/>
          </a:xfrm>
          <a:prstGeom prst="rect">
            <a:avLst/>
          </a:prstGeom>
        </p:spPr>
        <p:txBody>
          <a:bodyPr anchor="t" rtlCol="false" tIns="0" lIns="0" bIns="0" rIns="0">
            <a:spAutoFit/>
          </a:bodyPr>
          <a:lstStyle/>
          <a:p>
            <a:pPr algn="l">
              <a:lnSpc>
                <a:spcPts val="3359"/>
              </a:lnSpc>
            </a:pPr>
            <a:r>
              <a:rPr lang="en-US" sz="2799">
                <a:solidFill>
                  <a:srgbClr val="000000"/>
                </a:solidFill>
                <a:latin typeface="Arial"/>
                <a:ea typeface="Arial"/>
                <a:cs typeface="Arial"/>
                <a:sym typeface="Arial"/>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91404"/>
            <a:ext cx="18288000" cy="195596"/>
            <a:chOff x="0" y="0"/>
            <a:chExt cx="24384000" cy="260794"/>
          </a:xfrm>
        </p:grpSpPr>
        <p:sp>
          <p:nvSpPr>
            <p:cNvPr name="Freeform 3" id="3"/>
            <p:cNvSpPr/>
            <p:nvPr/>
          </p:nvSpPr>
          <p:spPr>
            <a:xfrm flipH="false" flipV="false" rot="0">
              <a:off x="0" y="0"/>
              <a:ext cx="24384000" cy="260858"/>
            </a:xfrm>
            <a:custGeom>
              <a:avLst/>
              <a:gdLst/>
              <a:ahLst/>
              <a:cxnLst/>
              <a:rect r="r" b="b" t="t" l="l"/>
              <a:pathLst>
                <a:path h="260858" w="24384000">
                  <a:moveTo>
                    <a:pt x="0" y="0"/>
                  </a:moveTo>
                  <a:lnTo>
                    <a:pt x="24384000" y="0"/>
                  </a:lnTo>
                  <a:lnTo>
                    <a:pt x="24384000" y="260858"/>
                  </a:lnTo>
                  <a:lnTo>
                    <a:pt x="0" y="260858"/>
                  </a:lnTo>
                  <a:close/>
                </a:path>
              </a:pathLst>
            </a:custGeom>
            <a:solidFill>
              <a:srgbClr val="CCA677"/>
            </a:solidFill>
          </p:spPr>
        </p:sp>
      </p:grpSp>
      <p:grpSp>
        <p:nvGrpSpPr>
          <p:cNvPr name="Group 4" id="4"/>
          <p:cNvGrpSpPr/>
          <p:nvPr/>
        </p:nvGrpSpPr>
        <p:grpSpPr>
          <a:xfrm rot="0">
            <a:off x="623402" y="624802"/>
            <a:ext cx="17041197" cy="2080320"/>
            <a:chOff x="0" y="0"/>
            <a:chExt cx="22721595" cy="2773759"/>
          </a:xfrm>
        </p:grpSpPr>
        <p:sp>
          <p:nvSpPr>
            <p:cNvPr name="Freeform 5" id="5"/>
            <p:cNvSpPr/>
            <p:nvPr/>
          </p:nvSpPr>
          <p:spPr>
            <a:xfrm flipH="false" flipV="false" rot="0">
              <a:off x="0" y="0"/>
              <a:ext cx="22721601" cy="2773762"/>
            </a:xfrm>
            <a:custGeom>
              <a:avLst/>
              <a:gdLst/>
              <a:ahLst/>
              <a:cxnLst/>
              <a:rect r="r" b="b" t="t" l="l"/>
              <a:pathLst>
                <a:path h="2773762" w="22721601">
                  <a:moveTo>
                    <a:pt x="0" y="0"/>
                  </a:moveTo>
                  <a:lnTo>
                    <a:pt x="22721601" y="0"/>
                  </a:lnTo>
                  <a:lnTo>
                    <a:pt x="22721601" y="2773762"/>
                  </a:lnTo>
                  <a:lnTo>
                    <a:pt x="0" y="2773762"/>
                  </a:lnTo>
                  <a:close/>
                </a:path>
              </a:pathLst>
            </a:custGeom>
            <a:blipFill>
              <a:blip r:embed="rId2">
                <a:alphaModFix amt="0"/>
              </a:blip>
              <a:stretch>
                <a:fillRect l="0" t="-119653" r="0" b="-99574"/>
              </a:stretch>
            </a:blipFill>
          </p:spPr>
        </p:sp>
        <p:sp>
          <p:nvSpPr>
            <p:cNvPr name="TextBox 6" id="6"/>
            <p:cNvSpPr txBox="true"/>
            <p:nvPr/>
          </p:nvSpPr>
          <p:spPr>
            <a:xfrm>
              <a:off x="0" y="-190500"/>
              <a:ext cx="22721595" cy="2964259"/>
            </a:xfrm>
            <a:prstGeom prst="rect">
              <a:avLst/>
            </a:prstGeom>
          </p:spPr>
          <p:txBody>
            <a:bodyPr anchor="b" rtlCol="false" tIns="0" lIns="0" bIns="0" rIns="0"/>
            <a:lstStyle/>
            <a:p>
              <a:pPr algn="l">
                <a:lnSpc>
                  <a:spcPts val="7200"/>
                </a:lnSpc>
              </a:pPr>
              <a:r>
                <a:rPr lang="en-US" sz="6000">
                  <a:solidFill>
                    <a:srgbClr val="000000"/>
                  </a:solidFill>
                  <a:latin typeface="Evolventa"/>
                  <a:ea typeface="Evolventa"/>
                  <a:cs typeface="Evolventa"/>
                  <a:sym typeface="Evolventa"/>
                </a:rPr>
                <a:t>Опис програмного забезпечення, що було використано у дослідженні</a:t>
              </a:r>
            </a:p>
          </p:txBody>
        </p:sp>
      </p:grpSp>
      <p:sp>
        <p:nvSpPr>
          <p:cNvPr name="TextBox 7" id="7"/>
          <p:cNvSpPr txBox="true"/>
          <p:nvPr/>
        </p:nvSpPr>
        <p:spPr>
          <a:xfrm rot="0">
            <a:off x="714823" y="2988478"/>
            <a:ext cx="16858355" cy="4956048"/>
          </a:xfrm>
          <a:prstGeom prst="rect">
            <a:avLst/>
          </a:prstGeom>
        </p:spPr>
        <p:txBody>
          <a:bodyPr anchor="t" rtlCol="false" tIns="0" lIns="0" bIns="0" rIns="0">
            <a:spAutoFit/>
          </a:bodyPr>
          <a:lstStyle/>
          <a:p>
            <a:pPr algn="l">
              <a:lnSpc>
                <a:spcPts val="4415"/>
              </a:lnSpc>
            </a:pPr>
            <a:r>
              <a:rPr lang="en-US" sz="3199">
                <a:solidFill>
                  <a:srgbClr val="0D0D0D"/>
                </a:solidFill>
                <a:latin typeface="Open Sans"/>
                <a:ea typeface="Open Sans"/>
                <a:cs typeface="Open Sans"/>
                <a:sym typeface="Open Sans"/>
              </a:rPr>
              <a:t>Unity — рушій для створення </a:t>
            </a:r>
            <a:r>
              <a:rPr lang="en-US" sz="3199">
                <a:solidFill>
                  <a:srgbClr val="0D0D0D"/>
                </a:solidFill>
                <a:latin typeface="Open Sans"/>
                <a:ea typeface="Open Sans"/>
                <a:cs typeface="Open Sans"/>
                <a:sym typeface="Open Sans"/>
              </a:rPr>
              <a:t>2D гри та UI.</a:t>
            </a:r>
          </a:p>
          <a:p>
            <a:pPr algn="l">
              <a:lnSpc>
                <a:spcPts val="4415"/>
              </a:lnSpc>
            </a:pPr>
            <a:r>
              <a:rPr lang="en-US" sz="3199">
                <a:solidFill>
                  <a:srgbClr val="0D0D0D"/>
                </a:solidFill>
                <a:latin typeface="Open Sans"/>
                <a:ea typeface="Open Sans"/>
                <a:cs typeface="Open Sans"/>
                <a:sym typeface="Open Sans"/>
              </a:rPr>
              <a:t>C# — реалізація ігрової логіки та інтеграції Yarn Spinner.</a:t>
            </a:r>
          </a:p>
          <a:p>
            <a:pPr algn="l">
              <a:lnSpc>
                <a:spcPts val="4415"/>
              </a:lnSpc>
            </a:pPr>
            <a:r>
              <a:rPr lang="en-US" sz="3199">
                <a:solidFill>
                  <a:srgbClr val="0D0D0D"/>
                </a:solidFill>
                <a:latin typeface="Open Sans"/>
                <a:ea typeface="Open Sans"/>
                <a:cs typeface="Open Sans"/>
                <a:sym typeface="Open Sans"/>
              </a:rPr>
              <a:t>Microsoft Visual Studio — середовище розробки та налагодження коду.</a:t>
            </a:r>
          </a:p>
          <a:p>
            <a:pPr algn="l">
              <a:lnSpc>
                <a:spcPts val="4415"/>
              </a:lnSpc>
            </a:pPr>
            <a:r>
              <a:rPr lang="en-US" sz="3199">
                <a:solidFill>
                  <a:srgbClr val="0D0D0D"/>
                </a:solidFill>
                <a:latin typeface="Open Sans"/>
                <a:ea typeface="Open Sans"/>
                <a:cs typeface="Open Sans"/>
                <a:sym typeface="Open Sans"/>
              </a:rPr>
              <a:t>TextMeshPro — відображення діалогів, імен персонажів та BPM.</a:t>
            </a:r>
          </a:p>
          <a:p>
            <a:pPr algn="l">
              <a:lnSpc>
                <a:spcPts val="4415"/>
              </a:lnSpc>
            </a:pPr>
            <a:r>
              <a:rPr lang="en-US" sz="3199">
                <a:solidFill>
                  <a:srgbClr val="0D0D0D"/>
                </a:solidFill>
                <a:latin typeface="Open Sans"/>
                <a:ea typeface="Open Sans"/>
                <a:cs typeface="Open Sans"/>
                <a:sym typeface="Open Sans"/>
              </a:rPr>
              <a:t>Yarn Spinner — система діалогів і сценарних команд.</a:t>
            </a:r>
          </a:p>
          <a:p>
            <a:pPr algn="l">
              <a:lnSpc>
                <a:spcPts val="4415"/>
              </a:lnSpc>
            </a:pPr>
            <a:r>
              <a:rPr lang="en-US" sz="3199">
                <a:solidFill>
                  <a:srgbClr val="0D0D0D"/>
                </a:solidFill>
                <a:latin typeface="Open Sans"/>
                <a:ea typeface="Open Sans"/>
                <a:cs typeface="Open Sans"/>
                <a:sym typeface="Open Sans"/>
              </a:rPr>
              <a:t>Unity UI (uGUI) — створення інтерфейсу користувача.</a:t>
            </a:r>
          </a:p>
          <a:p>
            <a:pPr algn="l">
              <a:lnSpc>
                <a:spcPts val="4415"/>
              </a:lnSpc>
            </a:pPr>
            <a:r>
              <a:rPr lang="en-US" sz="3199">
                <a:solidFill>
                  <a:srgbClr val="0D0D0D"/>
                </a:solidFill>
                <a:latin typeface="Open Sans"/>
                <a:ea typeface="Open Sans"/>
                <a:cs typeface="Open Sans"/>
                <a:sym typeface="Open Sans"/>
              </a:rPr>
              <a:t>PlayerPrefs — збереження налаштувань гри.</a:t>
            </a:r>
          </a:p>
          <a:p>
            <a:pPr algn="l">
              <a:lnSpc>
                <a:spcPts val="4415"/>
              </a:lnSpc>
            </a:pPr>
            <a:r>
              <a:rPr lang="en-US" sz="3199">
                <a:solidFill>
                  <a:srgbClr val="0D0D0D"/>
                </a:solidFill>
                <a:latin typeface="Open Sans"/>
                <a:ea typeface="Open Sans"/>
                <a:cs typeface="Open Sans"/>
                <a:sym typeface="Open Sans"/>
              </a:rPr>
              <a:t>JSON Utility — для серіалізації даних у форматі JSON.</a:t>
            </a:r>
          </a:p>
          <a:p>
            <a:pPr algn="l">
              <a:lnSpc>
                <a:spcPts val="4415"/>
              </a:lnSpc>
            </a:pPr>
          </a:p>
        </p:txBody>
      </p:sp>
      <p:grpSp>
        <p:nvGrpSpPr>
          <p:cNvPr name="Group 8" id="8"/>
          <p:cNvGrpSpPr/>
          <p:nvPr/>
        </p:nvGrpSpPr>
        <p:grpSpPr>
          <a:xfrm rot="0">
            <a:off x="537848" y="8719004"/>
            <a:ext cx="1724501" cy="1163498"/>
            <a:chOff x="0" y="0"/>
            <a:chExt cx="2299335" cy="1551330"/>
          </a:xfrm>
        </p:grpSpPr>
        <p:sp>
          <p:nvSpPr>
            <p:cNvPr name="Freeform 9" id="9"/>
            <p:cNvSpPr/>
            <p:nvPr/>
          </p:nvSpPr>
          <p:spPr>
            <a:xfrm flipH="false" flipV="false" rot="0">
              <a:off x="0" y="0"/>
              <a:ext cx="2299335" cy="1551305"/>
            </a:xfrm>
            <a:custGeom>
              <a:avLst/>
              <a:gdLst/>
              <a:ahLst/>
              <a:cxnLst/>
              <a:rect r="r" b="b" t="t" l="l"/>
              <a:pathLst>
                <a:path h="1551305" w="2299335">
                  <a:moveTo>
                    <a:pt x="0" y="0"/>
                  </a:moveTo>
                  <a:lnTo>
                    <a:pt x="2299335" y="0"/>
                  </a:lnTo>
                  <a:lnTo>
                    <a:pt x="2299335" y="1551305"/>
                  </a:lnTo>
                  <a:lnTo>
                    <a:pt x="0" y="1551305"/>
                  </a:lnTo>
                  <a:lnTo>
                    <a:pt x="0" y="0"/>
                  </a:lnTo>
                  <a:close/>
                </a:path>
              </a:pathLst>
            </a:custGeom>
            <a:blipFill>
              <a:blip r:embed="rId3"/>
              <a:stretch>
                <a:fillRect l="0" t="0" r="0" b="-2"/>
              </a:stretch>
            </a:blipFill>
          </p:spPr>
        </p:sp>
      </p:grpSp>
      <p:sp>
        <p:nvSpPr>
          <p:cNvPr name="TextBox 10" id="10"/>
          <p:cNvSpPr txBox="true"/>
          <p:nvPr/>
        </p:nvSpPr>
        <p:spPr>
          <a:xfrm rot="0">
            <a:off x="17647920" y="9239364"/>
            <a:ext cx="385220" cy="543163"/>
          </a:xfrm>
          <a:prstGeom prst="rect">
            <a:avLst/>
          </a:prstGeom>
        </p:spPr>
        <p:txBody>
          <a:bodyPr anchor="t" rtlCol="false" tIns="0" lIns="0" bIns="0" rIns="0">
            <a:spAutoFit/>
          </a:bodyPr>
          <a:lstStyle/>
          <a:p>
            <a:pPr algn="l">
              <a:lnSpc>
                <a:spcPts val="3359"/>
              </a:lnSpc>
            </a:pPr>
            <a:r>
              <a:rPr lang="en-US" sz="2799">
                <a:solidFill>
                  <a:srgbClr val="000000"/>
                </a:solidFill>
                <a:latin typeface="Arial"/>
                <a:ea typeface="Arial"/>
                <a:cs typeface="Arial"/>
                <a:sym typeface="Arial"/>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91404"/>
            <a:ext cx="18288000" cy="195596"/>
            <a:chOff x="0" y="0"/>
            <a:chExt cx="24384000" cy="260794"/>
          </a:xfrm>
        </p:grpSpPr>
        <p:sp>
          <p:nvSpPr>
            <p:cNvPr name="Freeform 3" id="3"/>
            <p:cNvSpPr/>
            <p:nvPr/>
          </p:nvSpPr>
          <p:spPr>
            <a:xfrm flipH="false" flipV="false" rot="0">
              <a:off x="0" y="0"/>
              <a:ext cx="24384000" cy="260858"/>
            </a:xfrm>
            <a:custGeom>
              <a:avLst/>
              <a:gdLst/>
              <a:ahLst/>
              <a:cxnLst/>
              <a:rect r="r" b="b" t="t" l="l"/>
              <a:pathLst>
                <a:path h="260858" w="24384000">
                  <a:moveTo>
                    <a:pt x="0" y="0"/>
                  </a:moveTo>
                  <a:lnTo>
                    <a:pt x="24384000" y="0"/>
                  </a:lnTo>
                  <a:lnTo>
                    <a:pt x="24384000" y="260858"/>
                  </a:lnTo>
                  <a:lnTo>
                    <a:pt x="0" y="260858"/>
                  </a:lnTo>
                  <a:close/>
                </a:path>
              </a:pathLst>
            </a:custGeom>
            <a:solidFill>
              <a:srgbClr val="CCA677"/>
            </a:solidFill>
          </p:spPr>
        </p:sp>
      </p:grpSp>
      <p:grpSp>
        <p:nvGrpSpPr>
          <p:cNvPr name="Group 4" id="4"/>
          <p:cNvGrpSpPr/>
          <p:nvPr/>
        </p:nvGrpSpPr>
        <p:grpSpPr>
          <a:xfrm rot="0">
            <a:off x="658873" y="0"/>
            <a:ext cx="17041197" cy="1662600"/>
            <a:chOff x="0" y="0"/>
            <a:chExt cx="22721595" cy="2216800"/>
          </a:xfrm>
        </p:grpSpPr>
        <p:sp>
          <p:nvSpPr>
            <p:cNvPr name="Freeform 5" id="5"/>
            <p:cNvSpPr/>
            <p:nvPr/>
          </p:nvSpPr>
          <p:spPr>
            <a:xfrm flipH="false" flipV="false" rot="0">
              <a:off x="0" y="0"/>
              <a:ext cx="22721601" cy="2216802"/>
            </a:xfrm>
            <a:custGeom>
              <a:avLst/>
              <a:gdLst/>
              <a:ahLst/>
              <a:cxnLst/>
              <a:rect r="r" b="b" t="t" l="l"/>
              <a:pathLst>
                <a:path h="2216802" w="22721601">
                  <a:moveTo>
                    <a:pt x="0" y="0"/>
                  </a:moveTo>
                  <a:lnTo>
                    <a:pt x="22721601" y="0"/>
                  </a:lnTo>
                  <a:lnTo>
                    <a:pt x="22721601" y="2216802"/>
                  </a:lnTo>
                  <a:lnTo>
                    <a:pt x="0" y="2216802"/>
                  </a:lnTo>
                  <a:close/>
                </a:path>
              </a:pathLst>
            </a:custGeom>
            <a:blipFill>
              <a:blip r:embed="rId2">
                <a:alphaModFix amt="0"/>
              </a:blip>
              <a:stretch>
                <a:fillRect l="0" t="-149716" r="0" b="-149716"/>
              </a:stretch>
            </a:blipFill>
          </p:spPr>
        </p:sp>
        <p:sp>
          <p:nvSpPr>
            <p:cNvPr name="TextBox 6" id="6"/>
            <p:cNvSpPr txBox="true"/>
            <p:nvPr/>
          </p:nvSpPr>
          <p:spPr>
            <a:xfrm>
              <a:off x="0" y="-190500"/>
              <a:ext cx="22721595" cy="2407300"/>
            </a:xfrm>
            <a:prstGeom prst="rect">
              <a:avLst/>
            </a:prstGeom>
          </p:spPr>
          <p:txBody>
            <a:bodyPr anchor="b" rtlCol="false" tIns="0" lIns="0" bIns="0" rIns="0"/>
            <a:lstStyle/>
            <a:p>
              <a:pPr algn="l">
                <a:lnSpc>
                  <a:spcPts val="7200"/>
                </a:lnSpc>
              </a:pPr>
              <a:r>
                <a:rPr lang="en-US" sz="6000">
                  <a:solidFill>
                    <a:srgbClr val="000000"/>
                  </a:solidFill>
                  <a:latin typeface="Evolventa"/>
                  <a:ea typeface="Evolventa"/>
                  <a:cs typeface="Evolventa"/>
                  <a:sym typeface="Evolventa"/>
                </a:rPr>
                <a:t>Дизайн системи</a:t>
              </a:r>
            </a:p>
          </p:txBody>
        </p:sp>
      </p:grpSp>
      <p:sp>
        <p:nvSpPr>
          <p:cNvPr name="TextBox 7" id="7"/>
          <p:cNvSpPr txBox="true"/>
          <p:nvPr/>
        </p:nvSpPr>
        <p:spPr>
          <a:xfrm rot="0">
            <a:off x="658873" y="2484730"/>
            <a:ext cx="16858355" cy="4703826"/>
          </a:xfrm>
          <a:prstGeom prst="rect">
            <a:avLst/>
          </a:prstGeom>
        </p:spPr>
        <p:txBody>
          <a:bodyPr anchor="t" rtlCol="false" tIns="0" lIns="0" bIns="0" rIns="0">
            <a:spAutoFit/>
          </a:bodyPr>
          <a:lstStyle/>
          <a:p>
            <a:pPr algn="l">
              <a:lnSpc>
                <a:spcPts val="4692"/>
              </a:lnSpc>
            </a:pPr>
            <a:r>
              <a:rPr lang="en-US" sz="3400">
                <a:solidFill>
                  <a:srgbClr val="000000"/>
                </a:solidFill>
                <a:latin typeface="Open Sans"/>
                <a:ea typeface="Open Sans"/>
                <a:cs typeface="Open Sans"/>
                <a:sym typeface="Open Sans"/>
              </a:rPr>
              <a:t>Методи: компонентно-орієнтований підхід Unity, патерни MVC та Singleton.</a:t>
            </a:r>
          </a:p>
          <a:p>
            <a:pPr algn="l">
              <a:lnSpc>
                <a:spcPts val="4692"/>
              </a:lnSpc>
            </a:pPr>
          </a:p>
          <a:p>
            <a:pPr algn="l">
              <a:lnSpc>
                <a:spcPts val="4692"/>
              </a:lnSpc>
            </a:pPr>
            <a:r>
              <a:rPr lang="en-US" sz="3400">
                <a:solidFill>
                  <a:srgbClr val="000000"/>
                </a:solidFill>
                <a:latin typeface="Open Sans"/>
                <a:ea typeface="Open Sans"/>
                <a:cs typeface="Open Sans"/>
                <a:sym typeface="Open Sans"/>
              </a:rPr>
              <a:t>Послідовність:</a:t>
            </a:r>
          </a:p>
          <a:p>
            <a:pPr algn="l" marL="734061" indent="-367031" lvl="1">
              <a:lnSpc>
                <a:spcPts val="4692"/>
              </a:lnSpc>
              <a:buFont typeface="Arial"/>
              <a:buChar char="•"/>
            </a:pPr>
            <a:r>
              <a:rPr lang="en-US" sz="3400">
                <a:solidFill>
                  <a:srgbClr val="000000"/>
                </a:solidFill>
                <a:latin typeface="Open Sans"/>
                <a:ea typeface="Open Sans"/>
                <a:cs typeface="Open Sans"/>
                <a:sym typeface="Open Sans"/>
              </a:rPr>
              <a:t>аналіз предметної області;</a:t>
            </a:r>
          </a:p>
          <a:p>
            <a:pPr algn="l" marL="734061" indent="-367031" lvl="1">
              <a:lnSpc>
                <a:spcPts val="4692"/>
              </a:lnSpc>
              <a:buFont typeface="Arial"/>
              <a:buChar char="•"/>
            </a:pPr>
            <a:r>
              <a:rPr lang="en-US" sz="3400">
                <a:solidFill>
                  <a:srgbClr val="000000"/>
                </a:solidFill>
                <a:latin typeface="Open Sans"/>
                <a:ea typeface="Open Sans"/>
                <a:cs typeface="Open Sans"/>
                <a:sym typeface="Open Sans"/>
              </a:rPr>
              <a:t>проєктування архітектури гри;</a:t>
            </a:r>
          </a:p>
          <a:p>
            <a:pPr algn="l" marL="734061" indent="-367031" lvl="1">
              <a:lnSpc>
                <a:spcPts val="4692"/>
              </a:lnSpc>
              <a:buFont typeface="Arial"/>
              <a:buChar char="•"/>
            </a:pPr>
            <a:r>
              <a:rPr lang="en-US" sz="3400">
                <a:solidFill>
                  <a:srgbClr val="000000"/>
                </a:solidFill>
                <a:latin typeface="Open Sans"/>
                <a:ea typeface="Open Sans"/>
                <a:cs typeface="Open Sans"/>
                <a:sym typeface="Open Sans"/>
              </a:rPr>
              <a:t>розробка і тестування механік та UI.</a:t>
            </a:r>
          </a:p>
          <a:p>
            <a:pPr algn="l">
              <a:lnSpc>
                <a:spcPts val="4692"/>
              </a:lnSpc>
            </a:pPr>
          </a:p>
          <a:p>
            <a:pPr algn="l">
              <a:lnSpc>
                <a:spcPts val="4692"/>
              </a:lnSpc>
            </a:pPr>
            <a:r>
              <a:rPr lang="en-US" sz="3400">
                <a:solidFill>
                  <a:srgbClr val="000000"/>
                </a:solidFill>
                <a:latin typeface="Open Sans"/>
                <a:ea typeface="Open Sans"/>
                <a:cs typeface="Open Sans"/>
                <a:sym typeface="Open Sans"/>
              </a:rPr>
              <a:t>Технології: Unity, C#, Yarn Spinner, Unity UI.</a:t>
            </a:r>
          </a:p>
        </p:txBody>
      </p:sp>
      <p:grpSp>
        <p:nvGrpSpPr>
          <p:cNvPr name="Group 8" id="8"/>
          <p:cNvGrpSpPr/>
          <p:nvPr/>
        </p:nvGrpSpPr>
        <p:grpSpPr>
          <a:xfrm rot="0">
            <a:off x="537848" y="8719004"/>
            <a:ext cx="1724501" cy="1163498"/>
            <a:chOff x="0" y="0"/>
            <a:chExt cx="2299335" cy="1551330"/>
          </a:xfrm>
        </p:grpSpPr>
        <p:sp>
          <p:nvSpPr>
            <p:cNvPr name="Freeform 9" id="9"/>
            <p:cNvSpPr/>
            <p:nvPr/>
          </p:nvSpPr>
          <p:spPr>
            <a:xfrm flipH="false" flipV="false" rot="0">
              <a:off x="0" y="0"/>
              <a:ext cx="2299335" cy="1551305"/>
            </a:xfrm>
            <a:custGeom>
              <a:avLst/>
              <a:gdLst/>
              <a:ahLst/>
              <a:cxnLst/>
              <a:rect r="r" b="b" t="t" l="l"/>
              <a:pathLst>
                <a:path h="1551305" w="2299335">
                  <a:moveTo>
                    <a:pt x="0" y="0"/>
                  </a:moveTo>
                  <a:lnTo>
                    <a:pt x="2299335" y="0"/>
                  </a:lnTo>
                  <a:lnTo>
                    <a:pt x="2299335" y="1551305"/>
                  </a:lnTo>
                  <a:lnTo>
                    <a:pt x="0" y="1551305"/>
                  </a:lnTo>
                  <a:lnTo>
                    <a:pt x="0" y="0"/>
                  </a:lnTo>
                  <a:close/>
                </a:path>
              </a:pathLst>
            </a:custGeom>
            <a:blipFill>
              <a:blip r:embed="rId3"/>
              <a:stretch>
                <a:fillRect l="0" t="0" r="0" b="-2"/>
              </a:stretch>
            </a:blipFill>
          </p:spPr>
        </p:sp>
      </p:grpSp>
      <p:sp>
        <p:nvSpPr>
          <p:cNvPr name="TextBox 10" id="10"/>
          <p:cNvSpPr txBox="true"/>
          <p:nvPr/>
        </p:nvSpPr>
        <p:spPr>
          <a:xfrm rot="0">
            <a:off x="17647920" y="9239364"/>
            <a:ext cx="385220" cy="543163"/>
          </a:xfrm>
          <a:prstGeom prst="rect">
            <a:avLst/>
          </a:prstGeom>
        </p:spPr>
        <p:txBody>
          <a:bodyPr anchor="t" rtlCol="false" tIns="0" lIns="0" bIns="0" rIns="0">
            <a:spAutoFit/>
          </a:bodyPr>
          <a:lstStyle/>
          <a:p>
            <a:pPr algn="l">
              <a:lnSpc>
                <a:spcPts val="3359"/>
              </a:lnSpc>
            </a:pPr>
            <a:r>
              <a:rPr lang="en-US" sz="2799">
                <a:solidFill>
                  <a:srgbClr val="000000"/>
                </a:solidFill>
                <a:latin typeface="Arial"/>
                <a:ea typeface="Arial"/>
                <a:cs typeface="Arial"/>
                <a:sym typeface="Arial"/>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91404"/>
            <a:ext cx="18288000" cy="195596"/>
            <a:chOff x="0" y="0"/>
            <a:chExt cx="24384000" cy="260794"/>
          </a:xfrm>
        </p:grpSpPr>
        <p:sp>
          <p:nvSpPr>
            <p:cNvPr name="Freeform 3" id="3"/>
            <p:cNvSpPr/>
            <p:nvPr/>
          </p:nvSpPr>
          <p:spPr>
            <a:xfrm flipH="false" flipV="false" rot="0">
              <a:off x="0" y="0"/>
              <a:ext cx="24384000" cy="260858"/>
            </a:xfrm>
            <a:custGeom>
              <a:avLst/>
              <a:gdLst/>
              <a:ahLst/>
              <a:cxnLst/>
              <a:rect r="r" b="b" t="t" l="l"/>
              <a:pathLst>
                <a:path h="260858" w="24384000">
                  <a:moveTo>
                    <a:pt x="0" y="0"/>
                  </a:moveTo>
                  <a:lnTo>
                    <a:pt x="24384000" y="0"/>
                  </a:lnTo>
                  <a:lnTo>
                    <a:pt x="24384000" y="260858"/>
                  </a:lnTo>
                  <a:lnTo>
                    <a:pt x="0" y="260858"/>
                  </a:lnTo>
                  <a:close/>
                </a:path>
              </a:pathLst>
            </a:custGeom>
            <a:solidFill>
              <a:srgbClr val="CCA677"/>
            </a:solidFill>
          </p:spPr>
        </p:sp>
      </p:grpSp>
      <p:grpSp>
        <p:nvGrpSpPr>
          <p:cNvPr name="Group 4" id="4"/>
          <p:cNvGrpSpPr/>
          <p:nvPr/>
        </p:nvGrpSpPr>
        <p:grpSpPr>
          <a:xfrm rot="0">
            <a:off x="714823" y="0"/>
            <a:ext cx="17041197" cy="1662600"/>
            <a:chOff x="0" y="0"/>
            <a:chExt cx="22721595" cy="2216800"/>
          </a:xfrm>
        </p:grpSpPr>
        <p:sp>
          <p:nvSpPr>
            <p:cNvPr name="Freeform 5" id="5"/>
            <p:cNvSpPr/>
            <p:nvPr/>
          </p:nvSpPr>
          <p:spPr>
            <a:xfrm flipH="false" flipV="false" rot="0">
              <a:off x="0" y="0"/>
              <a:ext cx="22721601" cy="2216802"/>
            </a:xfrm>
            <a:custGeom>
              <a:avLst/>
              <a:gdLst/>
              <a:ahLst/>
              <a:cxnLst/>
              <a:rect r="r" b="b" t="t" l="l"/>
              <a:pathLst>
                <a:path h="2216802" w="22721601">
                  <a:moveTo>
                    <a:pt x="0" y="0"/>
                  </a:moveTo>
                  <a:lnTo>
                    <a:pt x="22721601" y="0"/>
                  </a:lnTo>
                  <a:lnTo>
                    <a:pt x="22721601" y="2216802"/>
                  </a:lnTo>
                  <a:lnTo>
                    <a:pt x="0" y="2216802"/>
                  </a:lnTo>
                  <a:close/>
                </a:path>
              </a:pathLst>
            </a:custGeom>
            <a:blipFill>
              <a:blip r:embed="rId2">
                <a:alphaModFix amt="0"/>
              </a:blip>
              <a:stretch>
                <a:fillRect l="0" t="-149716" r="0" b="-149716"/>
              </a:stretch>
            </a:blipFill>
          </p:spPr>
        </p:sp>
        <p:sp>
          <p:nvSpPr>
            <p:cNvPr name="TextBox 6" id="6"/>
            <p:cNvSpPr txBox="true"/>
            <p:nvPr/>
          </p:nvSpPr>
          <p:spPr>
            <a:xfrm>
              <a:off x="0" y="-190500"/>
              <a:ext cx="22721595" cy="2407300"/>
            </a:xfrm>
            <a:prstGeom prst="rect">
              <a:avLst/>
            </a:prstGeom>
          </p:spPr>
          <p:txBody>
            <a:bodyPr anchor="b" rtlCol="false" tIns="0" lIns="0" bIns="0" rIns="0"/>
            <a:lstStyle/>
            <a:p>
              <a:pPr algn="l">
                <a:lnSpc>
                  <a:spcPts val="7200"/>
                </a:lnSpc>
              </a:pPr>
              <a:r>
                <a:rPr lang="en-US" sz="6000">
                  <a:solidFill>
                    <a:srgbClr val="000000"/>
                  </a:solidFill>
                  <a:latin typeface="Evolventa"/>
                  <a:ea typeface="Evolventa"/>
                  <a:cs typeface="Evolventa"/>
                  <a:sym typeface="Evolventa"/>
                </a:rPr>
                <a:t>Приклад реалізації</a:t>
              </a:r>
            </a:p>
          </p:txBody>
        </p:sp>
      </p:grpSp>
      <p:grpSp>
        <p:nvGrpSpPr>
          <p:cNvPr name="Group 7" id="7"/>
          <p:cNvGrpSpPr/>
          <p:nvPr/>
        </p:nvGrpSpPr>
        <p:grpSpPr>
          <a:xfrm rot="0">
            <a:off x="537848" y="8719004"/>
            <a:ext cx="1724501" cy="1163498"/>
            <a:chOff x="0" y="0"/>
            <a:chExt cx="2299335" cy="1551330"/>
          </a:xfrm>
        </p:grpSpPr>
        <p:sp>
          <p:nvSpPr>
            <p:cNvPr name="Freeform 8" id="8"/>
            <p:cNvSpPr/>
            <p:nvPr/>
          </p:nvSpPr>
          <p:spPr>
            <a:xfrm flipH="false" flipV="false" rot="0">
              <a:off x="0" y="0"/>
              <a:ext cx="2299335" cy="1551305"/>
            </a:xfrm>
            <a:custGeom>
              <a:avLst/>
              <a:gdLst/>
              <a:ahLst/>
              <a:cxnLst/>
              <a:rect r="r" b="b" t="t" l="l"/>
              <a:pathLst>
                <a:path h="1551305" w="2299335">
                  <a:moveTo>
                    <a:pt x="0" y="0"/>
                  </a:moveTo>
                  <a:lnTo>
                    <a:pt x="2299335" y="0"/>
                  </a:lnTo>
                  <a:lnTo>
                    <a:pt x="2299335" y="1551305"/>
                  </a:lnTo>
                  <a:lnTo>
                    <a:pt x="0" y="1551305"/>
                  </a:lnTo>
                  <a:lnTo>
                    <a:pt x="0" y="0"/>
                  </a:lnTo>
                  <a:close/>
                </a:path>
              </a:pathLst>
            </a:custGeom>
            <a:blipFill>
              <a:blip r:embed="rId3"/>
              <a:stretch>
                <a:fillRect l="0" t="0" r="0" b="-2"/>
              </a:stretch>
            </a:blipFill>
          </p:spPr>
        </p:sp>
      </p:grpSp>
      <p:sp>
        <p:nvSpPr>
          <p:cNvPr name="Freeform 9" id="9"/>
          <p:cNvSpPr/>
          <p:nvPr/>
        </p:nvSpPr>
        <p:spPr>
          <a:xfrm flipH="false" flipV="false" rot="0">
            <a:off x="714823" y="2174054"/>
            <a:ext cx="8121561" cy="5938891"/>
          </a:xfrm>
          <a:custGeom>
            <a:avLst/>
            <a:gdLst/>
            <a:ahLst/>
            <a:cxnLst/>
            <a:rect r="r" b="b" t="t" l="l"/>
            <a:pathLst>
              <a:path h="5938891" w="8121561">
                <a:moveTo>
                  <a:pt x="0" y="0"/>
                </a:moveTo>
                <a:lnTo>
                  <a:pt x="8121560" y="0"/>
                </a:lnTo>
                <a:lnTo>
                  <a:pt x="8121560" y="5938892"/>
                </a:lnTo>
                <a:lnTo>
                  <a:pt x="0" y="5938892"/>
                </a:lnTo>
                <a:lnTo>
                  <a:pt x="0" y="0"/>
                </a:lnTo>
                <a:close/>
              </a:path>
            </a:pathLst>
          </a:custGeom>
          <a:blipFill>
            <a:blip r:embed="rId4"/>
            <a:stretch>
              <a:fillRect l="0" t="0" r="0" b="0"/>
            </a:stretch>
          </a:blipFill>
        </p:spPr>
      </p:sp>
      <p:sp>
        <p:nvSpPr>
          <p:cNvPr name="Freeform 10" id="10"/>
          <p:cNvSpPr/>
          <p:nvPr/>
        </p:nvSpPr>
        <p:spPr>
          <a:xfrm flipH="false" flipV="false" rot="0">
            <a:off x="9475835" y="1965021"/>
            <a:ext cx="3631412" cy="6356958"/>
          </a:xfrm>
          <a:custGeom>
            <a:avLst/>
            <a:gdLst/>
            <a:ahLst/>
            <a:cxnLst/>
            <a:rect r="r" b="b" t="t" l="l"/>
            <a:pathLst>
              <a:path h="6356958" w="3631412">
                <a:moveTo>
                  <a:pt x="0" y="0"/>
                </a:moveTo>
                <a:lnTo>
                  <a:pt x="3631413" y="0"/>
                </a:lnTo>
                <a:lnTo>
                  <a:pt x="3631413" y="6356958"/>
                </a:lnTo>
                <a:lnTo>
                  <a:pt x="0" y="6356958"/>
                </a:lnTo>
                <a:lnTo>
                  <a:pt x="0" y="0"/>
                </a:lnTo>
                <a:close/>
              </a:path>
            </a:pathLst>
          </a:custGeom>
          <a:blipFill>
            <a:blip r:embed="rId5"/>
            <a:stretch>
              <a:fillRect l="0" t="0" r="0" b="0"/>
            </a:stretch>
          </a:blipFill>
        </p:spPr>
      </p:sp>
      <p:sp>
        <p:nvSpPr>
          <p:cNvPr name="Freeform 11" id="11"/>
          <p:cNvSpPr/>
          <p:nvPr/>
        </p:nvSpPr>
        <p:spPr>
          <a:xfrm flipH="false" flipV="false" rot="0">
            <a:off x="13745423" y="1965021"/>
            <a:ext cx="3607574" cy="6356958"/>
          </a:xfrm>
          <a:custGeom>
            <a:avLst/>
            <a:gdLst/>
            <a:ahLst/>
            <a:cxnLst/>
            <a:rect r="r" b="b" t="t" l="l"/>
            <a:pathLst>
              <a:path h="6356958" w="3607574">
                <a:moveTo>
                  <a:pt x="0" y="0"/>
                </a:moveTo>
                <a:lnTo>
                  <a:pt x="3607573" y="0"/>
                </a:lnTo>
                <a:lnTo>
                  <a:pt x="3607573" y="6356958"/>
                </a:lnTo>
                <a:lnTo>
                  <a:pt x="0" y="6356958"/>
                </a:lnTo>
                <a:lnTo>
                  <a:pt x="0" y="0"/>
                </a:lnTo>
                <a:close/>
              </a:path>
            </a:pathLst>
          </a:custGeom>
          <a:blipFill>
            <a:blip r:embed="rId6"/>
            <a:stretch>
              <a:fillRect l="0" t="0" r="0" b="0"/>
            </a:stretch>
          </a:blipFill>
        </p:spPr>
      </p:sp>
      <p:sp>
        <p:nvSpPr>
          <p:cNvPr name="TextBox 12" id="12"/>
          <p:cNvSpPr txBox="true"/>
          <p:nvPr/>
        </p:nvSpPr>
        <p:spPr>
          <a:xfrm rot="0">
            <a:off x="17647920" y="9239364"/>
            <a:ext cx="385220" cy="543163"/>
          </a:xfrm>
          <a:prstGeom prst="rect">
            <a:avLst/>
          </a:prstGeom>
        </p:spPr>
        <p:txBody>
          <a:bodyPr anchor="t" rtlCol="false" tIns="0" lIns="0" bIns="0" rIns="0">
            <a:spAutoFit/>
          </a:bodyPr>
          <a:lstStyle/>
          <a:p>
            <a:pPr algn="l">
              <a:lnSpc>
                <a:spcPts val="3359"/>
              </a:lnSpc>
            </a:pPr>
            <a:r>
              <a:rPr lang="en-US" sz="2799">
                <a:solidFill>
                  <a:srgbClr val="000000"/>
                </a:solidFill>
                <a:latin typeface="Arial"/>
                <a:ea typeface="Arial"/>
                <a:cs typeface="Arial"/>
                <a:sym typeface="Arial"/>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91404"/>
            <a:ext cx="18288000" cy="195596"/>
            <a:chOff x="0" y="0"/>
            <a:chExt cx="24384000" cy="260794"/>
          </a:xfrm>
        </p:grpSpPr>
        <p:sp>
          <p:nvSpPr>
            <p:cNvPr name="Freeform 3" id="3"/>
            <p:cNvSpPr/>
            <p:nvPr/>
          </p:nvSpPr>
          <p:spPr>
            <a:xfrm flipH="false" flipV="false" rot="0">
              <a:off x="0" y="0"/>
              <a:ext cx="24384000" cy="260858"/>
            </a:xfrm>
            <a:custGeom>
              <a:avLst/>
              <a:gdLst/>
              <a:ahLst/>
              <a:cxnLst/>
              <a:rect r="r" b="b" t="t" l="l"/>
              <a:pathLst>
                <a:path h="260858" w="24384000">
                  <a:moveTo>
                    <a:pt x="0" y="0"/>
                  </a:moveTo>
                  <a:lnTo>
                    <a:pt x="24384000" y="0"/>
                  </a:lnTo>
                  <a:lnTo>
                    <a:pt x="24384000" y="260858"/>
                  </a:lnTo>
                  <a:lnTo>
                    <a:pt x="0" y="260858"/>
                  </a:lnTo>
                  <a:close/>
                </a:path>
              </a:pathLst>
            </a:custGeom>
            <a:solidFill>
              <a:srgbClr val="CCA677"/>
            </a:solidFill>
          </p:spPr>
        </p:sp>
      </p:grpSp>
      <p:grpSp>
        <p:nvGrpSpPr>
          <p:cNvPr name="Group 4" id="4"/>
          <p:cNvGrpSpPr/>
          <p:nvPr/>
        </p:nvGrpSpPr>
        <p:grpSpPr>
          <a:xfrm rot="0">
            <a:off x="714823" y="0"/>
            <a:ext cx="17041197" cy="1662600"/>
            <a:chOff x="0" y="0"/>
            <a:chExt cx="22721595" cy="2216800"/>
          </a:xfrm>
        </p:grpSpPr>
        <p:sp>
          <p:nvSpPr>
            <p:cNvPr name="Freeform 5" id="5"/>
            <p:cNvSpPr/>
            <p:nvPr/>
          </p:nvSpPr>
          <p:spPr>
            <a:xfrm flipH="false" flipV="false" rot="0">
              <a:off x="0" y="0"/>
              <a:ext cx="22721601" cy="2216802"/>
            </a:xfrm>
            <a:custGeom>
              <a:avLst/>
              <a:gdLst/>
              <a:ahLst/>
              <a:cxnLst/>
              <a:rect r="r" b="b" t="t" l="l"/>
              <a:pathLst>
                <a:path h="2216802" w="22721601">
                  <a:moveTo>
                    <a:pt x="0" y="0"/>
                  </a:moveTo>
                  <a:lnTo>
                    <a:pt x="22721601" y="0"/>
                  </a:lnTo>
                  <a:lnTo>
                    <a:pt x="22721601" y="2216802"/>
                  </a:lnTo>
                  <a:lnTo>
                    <a:pt x="0" y="2216802"/>
                  </a:lnTo>
                  <a:close/>
                </a:path>
              </a:pathLst>
            </a:custGeom>
            <a:blipFill>
              <a:blip r:embed="rId2">
                <a:alphaModFix amt="0"/>
              </a:blip>
              <a:stretch>
                <a:fillRect l="0" t="-149716" r="0" b="-149716"/>
              </a:stretch>
            </a:blipFill>
          </p:spPr>
        </p:sp>
        <p:sp>
          <p:nvSpPr>
            <p:cNvPr name="TextBox 6" id="6"/>
            <p:cNvSpPr txBox="true"/>
            <p:nvPr/>
          </p:nvSpPr>
          <p:spPr>
            <a:xfrm>
              <a:off x="0" y="-190500"/>
              <a:ext cx="22721595" cy="2407300"/>
            </a:xfrm>
            <a:prstGeom prst="rect">
              <a:avLst/>
            </a:prstGeom>
          </p:spPr>
          <p:txBody>
            <a:bodyPr anchor="b" rtlCol="false" tIns="0" lIns="0" bIns="0" rIns="0"/>
            <a:lstStyle/>
            <a:p>
              <a:pPr algn="l">
                <a:lnSpc>
                  <a:spcPts val="7200"/>
                </a:lnSpc>
              </a:pPr>
              <a:r>
                <a:rPr lang="en-US" sz="6000">
                  <a:solidFill>
                    <a:srgbClr val="000000"/>
                  </a:solidFill>
                  <a:latin typeface="Evolventa"/>
                  <a:ea typeface="Evolventa"/>
                  <a:cs typeface="Evolventa"/>
                  <a:sym typeface="Evolventa"/>
                </a:rPr>
                <a:t>Приклад реалізації</a:t>
              </a:r>
            </a:p>
          </p:txBody>
        </p:sp>
      </p:grpSp>
      <p:grpSp>
        <p:nvGrpSpPr>
          <p:cNvPr name="Group 7" id="7"/>
          <p:cNvGrpSpPr/>
          <p:nvPr/>
        </p:nvGrpSpPr>
        <p:grpSpPr>
          <a:xfrm rot="0">
            <a:off x="537848" y="8719004"/>
            <a:ext cx="1724501" cy="1163498"/>
            <a:chOff x="0" y="0"/>
            <a:chExt cx="2299335" cy="1551330"/>
          </a:xfrm>
        </p:grpSpPr>
        <p:sp>
          <p:nvSpPr>
            <p:cNvPr name="Freeform 8" id="8"/>
            <p:cNvSpPr/>
            <p:nvPr/>
          </p:nvSpPr>
          <p:spPr>
            <a:xfrm flipH="false" flipV="false" rot="0">
              <a:off x="0" y="0"/>
              <a:ext cx="2299335" cy="1551305"/>
            </a:xfrm>
            <a:custGeom>
              <a:avLst/>
              <a:gdLst/>
              <a:ahLst/>
              <a:cxnLst/>
              <a:rect r="r" b="b" t="t" l="l"/>
              <a:pathLst>
                <a:path h="1551305" w="2299335">
                  <a:moveTo>
                    <a:pt x="0" y="0"/>
                  </a:moveTo>
                  <a:lnTo>
                    <a:pt x="2299335" y="0"/>
                  </a:lnTo>
                  <a:lnTo>
                    <a:pt x="2299335" y="1551305"/>
                  </a:lnTo>
                  <a:lnTo>
                    <a:pt x="0" y="1551305"/>
                  </a:lnTo>
                  <a:lnTo>
                    <a:pt x="0" y="0"/>
                  </a:lnTo>
                  <a:close/>
                </a:path>
              </a:pathLst>
            </a:custGeom>
            <a:blipFill>
              <a:blip r:embed="rId3"/>
              <a:stretch>
                <a:fillRect l="0" t="0" r="0" b="-2"/>
              </a:stretch>
            </a:blipFill>
          </p:spPr>
        </p:sp>
      </p:grpSp>
      <p:sp>
        <p:nvSpPr>
          <p:cNvPr name="Freeform 9" id="9"/>
          <p:cNvSpPr/>
          <p:nvPr/>
        </p:nvSpPr>
        <p:spPr>
          <a:xfrm flipH="false" flipV="false" rot="0">
            <a:off x="9594733" y="1965021"/>
            <a:ext cx="3639359" cy="6356958"/>
          </a:xfrm>
          <a:custGeom>
            <a:avLst/>
            <a:gdLst/>
            <a:ahLst/>
            <a:cxnLst/>
            <a:rect r="r" b="b" t="t" l="l"/>
            <a:pathLst>
              <a:path h="6356958" w="3639359">
                <a:moveTo>
                  <a:pt x="0" y="0"/>
                </a:moveTo>
                <a:lnTo>
                  <a:pt x="3639359" y="0"/>
                </a:lnTo>
                <a:lnTo>
                  <a:pt x="3639359" y="6356958"/>
                </a:lnTo>
                <a:lnTo>
                  <a:pt x="0" y="6356958"/>
                </a:lnTo>
                <a:lnTo>
                  <a:pt x="0" y="0"/>
                </a:lnTo>
                <a:close/>
              </a:path>
            </a:pathLst>
          </a:custGeom>
          <a:blipFill>
            <a:blip r:embed="rId4"/>
            <a:stretch>
              <a:fillRect l="0" t="0" r="0" b="0"/>
            </a:stretch>
          </a:blipFill>
        </p:spPr>
      </p:sp>
      <p:sp>
        <p:nvSpPr>
          <p:cNvPr name="Freeform 10" id="10"/>
          <p:cNvSpPr/>
          <p:nvPr/>
        </p:nvSpPr>
        <p:spPr>
          <a:xfrm flipH="false" flipV="false" rot="0">
            <a:off x="1028700" y="2170860"/>
            <a:ext cx="8088817" cy="5945281"/>
          </a:xfrm>
          <a:custGeom>
            <a:avLst/>
            <a:gdLst/>
            <a:ahLst/>
            <a:cxnLst/>
            <a:rect r="r" b="b" t="t" l="l"/>
            <a:pathLst>
              <a:path h="5945281" w="8088817">
                <a:moveTo>
                  <a:pt x="0" y="0"/>
                </a:moveTo>
                <a:lnTo>
                  <a:pt x="8088817" y="0"/>
                </a:lnTo>
                <a:lnTo>
                  <a:pt x="8088817" y="5945280"/>
                </a:lnTo>
                <a:lnTo>
                  <a:pt x="0" y="5945280"/>
                </a:lnTo>
                <a:lnTo>
                  <a:pt x="0" y="0"/>
                </a:lnTo>
                <a:close/>
              </a:path>
            </a:pathLst>
          </a:custGeom>
          <a:blipFill>
            <a:blip r:embed="rId5"/>
            <a:stretch>
              <a:fillRect l="0" t="0" r="0" b="0"/>
            </a:stretch>
          </a:blipFill>
        </p:spPr>
      </p:sp>
      <p:sp>
        <p:nvSpPr>
          <p:cNvPr name="Freeform 11" id="11"/>
          <p:cNvSpPr/>
          <p:nvPr/>
        </p:nvSpPr>
        <p:spPr>
          <a:xfrm flipH="false" flipV="false" rot="0">
            <a:off x="13711307" y="1965021"/>
            <a:ext cx="3671143" cy="6356958"/>
          </a:xfrm>
          <a:custGeom>
            <a:avLst/>
            <a:gdLst/>
            <a:ahLst/>
            <a:cxnLst/>
            <a:rect r="r" b="b" t="t" l="l"/>
            <a:pathLst>
              <a:path h="6356958" w="3671143">
                <a:moveTo>
                  <a:pt x="0" y="0"/>
                </a:moveTo>
                <a:lnTo>
                  <a:pt x="3671144" y="0"/>
                </a:lnTo>
                <a:lnTo>
                  <a:pt x="3671144" y="6356958"/>
                </a:lnTo>
                <a:lnTo>
                  <a:pt x="0" y="6356958"/>
                </a:lnTo>
                <a:lnTo>
                  <a:pt x="0" y="0"/>
                </a:lnTo>
                <a:close/>
              </a:path>
            </a:pathLst>
          </a:custGeom>
          <a:blipFill>
            <a:blip r:embed="rId6"/>
            <a:stretch>
              <a:fillRect l="0" t="0" r="0" b="0"/>
            </a:stretch>
          </a:blipFill>
        </p:spPr>
      </p:sp>
      <p:sp>
        <p:nvSpPr>
          <p:cNvPr name="TextBox 12" id="12"/>
          <p:cNvSpPr txBox="true"/>
          <p:nvPr/>
        </p:nvSpPr>
        <p:spPr>
          <a:xfrm rot="0">
            <a:off x="17607857" y="9239250"/>
            <a:ext cx="680143" cy="438150"/>
          </a:xfrm>
          <a:prstGeom prst="rect">
            <a:avLst/>
          </a:prstGeom>
        </p:spPr>
        <p:txBody>
          <a:bodyPr anchor="t" rtlCol="false" tIns="0" lIns="0" bIns="0" rIns="0">
            <a:spAutoFit/>
          </a:bodyPr>
          <a:lstStyle/>
          <a:p>
            <a:pPr algn="l">
              <a:lnSpc>
                <a:spcPts val="3359"/>
              </a:lnSpc>
            </a:pPr>
            <a:r>
              <a:rPr lang="en-US" sz="2799">
                <a:solidFill>
                  <a:srgbClr val="000000"/>
                </a:solidFill>
                <a:latin typeface="Arial"/>
                <a:ea typeface="Arial"/>
                <a:cs typeface="Arial"/>
                <a:sym typeface="Arial"/>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91404"/>
            <a:ext cx="18288000" cy="195596"/>
            <a:chOff x="0" y="0"/>
            <a:chExt cx="24384000" cy="260794"/>
          </a:xfrm>
        </p:grpSpPr>
        <p:sp>
          <p:nvSpPr>
            <p:cNvPr name="Freeform 3" id="3"/>
            <p:cNvSpPr/>
            <p:nvPr/>
          </p:nvSpPr>
          <p:spPr>
            <a:xfrm flipH="false" flipV="false" rot="0">
              <a:off x="0" y="0"/>
              <a:ext cx="24384000" cy="260858"/>
            </a:xfrm>
            <a:custGeom>
              <a:avLst/>
              <a:gdLst/>
              <a:ahLst/>
              <a:cxnLst/>
              <a:rect r="r" b="b" t="t" l="l"/>
              <a:pathLst>
                <a:path h="260858" w="24384000">
                  <a:moveTo>
                    <a:pt x="0" y="0"/>
                  </a:moveTo>
                  <a:lnTo>
                    <a:pt x="24384000" y="0"/>
                  </a:lnTo>
                  <a:lnTo>
                    <a:pt x="24384000" y="260858"/>
                  </a:lnTo>
                  <a:lnTo>
                    <a:pt x="0" y="260858"/>
                  </a:lnTo>
                  <a:close/>
                </a:path>
              </a:pathLst>
            </a:custGeom>
            <a:solidFill>
              <a:srgbClr val="CCA677"/>
            </a:solidFill>
          </p:spPr>
        </p:sp>
      </p:grpSp>
      <p:grpSp>
        <p:nvGrpSpPr>
          <p:cNvPr name="Group 4" id="4"/>
          <p:cNvGrpSpPr/>
          <p:nvPr/>
        </p:nvGrpSpPr>
        <p:grpSpPr>
          <a:xfrm rot="0">
            <a:off x="606723" y="0"/>
            <a:ext cx="17041197" cy="1662600"/>
            <a:chOff x="0" y="0"/>
            <a:chExt cx="22721595" cy="2216800"/>
          </a:xfrm>
        </p:grpSpPr>
        <p:sp>
          <p:nvSpPr>
            <p:cNvPr name="Freeform 5" id="5"/>
            <p:cNvSpPr/>
            <p:nvPr/>
          </p:nvSpPr>
          <p:spPr>
            <a:xfrm flipH="false" flipV="false" rot="0">
              <a:off x="0" y="0"/>
              <a:ext cx="22721601" cy="2216802"/>
            </a:xfrm>
            <a:custGeom>
              <a:avLst/>
              <a:gdLst/>
              <a:ahLst/>
              <a:cxnLst/>
              <a:rect r="r" b="b" t="t" l="l"/>
              <a:pathLst>
                <a:path h="2216802" w="22721601">
                  <a:moveTo>
                    <a:pt x="0" y="0"/>
                  </a:moveTo>
                  <a:lnTo>
                    <a:pt x="22721601" y="0"/>
                  </a:lnTo>
                  <a:lnTo>
                    <a:pt x="22721601" y="2216802"/>
                  </a:lnTo>
                  <a:lnTo>
                    <a:pt x="0" y="2216802"/>
                  </a:lnTo>
                  <a:close/>
                </a:path>
              </a:pathLst>
            </a:custGeom>
            <a:blipFill>
              <a:blip r:embed="rId2">
                <a:alphaModFix amt="0"/>
              </a:blip>
              <a:stretch>
                <a:fillRect l="0" t="-149716" r="0" b="-149716"/>
              </a:stretch>
            </a:blipFill>
          </p:spPr>
        </p:sp>
        <p:sp>
          <p:nvSpPr>
            <p:cNvPr name="TextBox 6" id="6"/>
            <p:cNvSpPr txBox="true"/>
            <p:nvPr/>
          </p:nvSpPr>
          <p:spPr>
            <a:xfrm>
              <a:off x="0" y="-190500"/>
              <a:ext cx="22721595" cy="2407300"/>
            </a:xfrm>
            <a:prstGeom prst="rect">
              <a:avLst/>
            </a:prstGeom>
          </p:spPr>
          <p:txBody>
            <a:bodyPr anchor="b" rtlCol="false" tIns="0" lIns="0" bIns="0" rIns="0"/>
            <a:lstStyle/>
            <a:p>
              <a:pPr algn="l">
                <a:lnSpc>
                  <a:spcPts val="7200"/>
                </a:lnSpc>
              </a:pPr>
              <a:r>
                <a:rPr lang="en-US" sz="6000">
                  <a:solidFill>
                    <a:srgbClr val="000000"/>
                  </a:solidFill>
                  <a:latin typeface="Evolventa"/>
                  <a:ea typeface="Evolventa"/>
                  <a:cs typeface="Evolventa"/>
                  <a:sym typeface="Evolventa"/>
                </a:rPr>
                <a:t>Інтерфейс користувача </a:t>
              </a:r>
            </a:p>
          </p:txBody>
        </p:sp>
      </p:grpSp>
      <p:grpSp>
        <p:nvGrpSpPr>
          <p:cNvPr name="Group 7" id="7"/>
          <p:cNvGrpSpPr/>
          <p:nvPr/>
        </p:nvGrpSpPr>
        <p:grpSpPr>
          <a:xfrm rot="0">
            <a:off x="537848" y="8719004"/>
            <a:ext cx="1724501" cy="1163498"/>
            <a:chOff x="0" y="0"/>
            <a:chExt cx="2299335" cy="1551330"/>
          </a:xfrm>
        </p:grpSpPr>
        <p:sp>
          <p:nvSpPr>
            <p:cNvPr name="Freeform 8" id="8"/>
            <p:cNvSpPr/>
            <p:nvPr/>
          </p:nvSpPr>
          <p:spPr>
            <a:xfrm flipH="false" flipV="false" rot="0">
              <a:off x="0" y="0"/>
              <a:ext cx="2299335" cy="1551305"/>
            </a:xfrm>
            <a:custGeom>
              <a:avLst/>
              <a:gdLst/>
              <a:ahLst/>
              <a:cxnLst/>
              <a:rect r="r" b="b" t="t" l="l"/>
              <a:pathLst>
                <a:path h="1551305" w="2299335">
                  <a:moveTo>
                    <a:pt x="0" y="0"/>
                  </a:moveTo>
                  <a:lnTo>
                    <a:pt x="2299335" y="0"/>
                  </a:lnTo>
                  <a:lnTo>
                    <a:pt x="2299335" y="1551305"/>
                  </a:lnTo>
                  <a:lnTo>
                    <a:pt x="0" y="1551305"/>
                  </a:lnTo>
                  <a:lnTo>
                    <a:pt x="0" y="0"/>
                  </a:lnTo>
                  <a:close/>
                </a:path>
              </a:pathLst>
            </a:custGeom>
            <a:blipFill>
              <a:blip r:embed="rId3"/>
              <a:stretch>
                <a:fillRect l="0" t="0" r="0" b="-2"/>
              </a:stretch>
            </a:blipFill>
          </p:spPr>
        </p:sp>
      </p:grpSp>
      <p:sp>
        <p:nvSpPr>
          <p:cNvPr name="Freeform 9" id="9"/>
          <p:cNvSpPr/>
          <p:nvPr/>
        </p:nvSpPr>
        <p:spPr>
          <a:xfrm flipH="false" flipV="false" rot="0">
            <a:off x="1178984" y="1965021"/>
            <a:ext cx="3702928" cy="6356958"/>
          </a:xfrm>
          <a:custGeom>
            <a:avLst/>
            <a:gdLst/>
            <a:ahLst/>
            <a:cxnLst/>
            <a:rect r="r" b="b" t="t" l="l"/>
            <a:pathLst>
              <a:path h="6356958" w="3702928">
                <a:moveTo>
                  <a:pt x="0" y="0"/>
                </a:moveTo>
                <a:lnTo>
                  <a:pt x="3702928" y="0"/>
                </a:lnTo>
                <a:lnTo>
                  <a:pt x="3702928" y="6356958"/>
                </a:lnTo>
                <a:lnTo>
                  <a:pt x="0" y="6356958"/>
                </a:lnTo>
                <a:lnTo>
                  <a:pt x="0" y="0"/>
                </a:lnTo>
                <a:close/>
              </a:path>
            </a:pathLst>
          </a:custGeom>
          <a:blipFill>
            <a:blip r:embed="rId4"/>
            <a:stretch>
              <a:fillRect l="0" t="0" r="0" b="0"/>
            </a:stretch>
          </a:blipFill>
        </p:spPr>
      </p:sp>
      <p:sp>
        <p:nvSpPr>
          <p:cNvPr name="Freeform 10" id="10"/>
          <p:cNvSpPr/>
          <p:nvPr/>
        </p:nvSpPr>
        <p:spPr>
          <a:xfrm flipH="false" flipV="false" rot="0">
            <a:off x="5357633" y="1965021"/>
            <a:ext cx="3536058" cy="6356958"/>
          </a:xfrm>
          <a:custGeom>
            <a:avLst/>
            <a:gdLst/>
            <a:ahLst/>
            <a:cxnLst/>
            <a:rect r="r" b="b" t="t" l="l"/>
            <a:pathLst>
              <a:path h="6356958" w="3536058">
                <a:moveTo>
                  <a:pt x="0" y="0"/>
                </a:moveTo>
                <a:lnTo>
                  <a:pt x="3536058" y="0"/>
                </a:lnTo>
                <a:lnTo>
                  <a:pt x="3536058" y="6356958"/>
                </a:lnTo>
                <a:lnTo>
                  <a:pt x="0" y="6356958"/>
                </a:lnTo>
                <a:lnTo>
                  <a:pt x="0" y="0"/>
                </a:lnTo>
                <a:close/>
              </a:path>
            </a:pathLst>
          </a:custGeom>
          <a:blipFill>
            <a:blip r:embed="rId5"/>
            <a:stretch>
              <a:fillRect l="0" t="0" r="0" b="0"/>
            </a:stretch>
          </a:blipFill>
        </p:spPr>
      </p:sp>
      <p:sp>
        <p:nvSpPr>
          <p:cNvPr name="Freeform 11" id="11"/>
          <p:cNvSpPr/>
          <p:nvPr/>
        </p:nvSpPr>
        <p:spPr>
          <a:xfrm flipH="false" flipV="false" rot="0">
            <a:off x="9369941" y="1965021"/>
            <a:ext cx="3631412" cy="6356958"/>
          </a:xfrm>
          <a:custGeom>
            <a:avLst/>
            <a:gdLst/>
            <a:ahLst/>
            <a:cxnLst/>
            <a:rect r="r" b="b" t="t" l="l"/>
            <a:pathLst>
              <a:path h="6356958" w="3631412">
                <a:moveTo>
                  <a:pt x="0" y="0"/>
                </a:moveTo>
                <a:lnTo>
                  <a:pt x="3631412" y="0"/>
                </a:lnTo>
                <a:lnTo>
                  <a:pt x="3631412" y="6356958"/>
                </a:lnTo>
                <a:lnTo>
                  <a:pt x="0" y="6356958"/>
                </a:lnTo>
                <a:lnTo>
                  <a:pt x="0" y="0"/>
                </a:lnTo>
                <a:close/>
              </a:path>
            </a:pathLst>
          </a:custGeom>
          <a:blipFill>
            <a:blip r:embed="rId6"/>
            <a:stretch>
              <a:fillRect l="0" t="0" r="0" b="0"/>
            </a:stretch>
          </a:blipFill>
        </p:spPr>
      </p:sp>
      <p:sp>
        <p:nvSpPr>
          <p:cNvPr name="Freeform 12" id="12"/>
          <p:cNvSpPr/>
          <p:nvPr/>
        </p:nvSpPr>
        <p:spPr>
          <a:xfrm flipH="false" flipV="false" rot="0">
            <a:off x="13477603" y="1965021"/>
            <a:ext cx="3631412" cy="6356958"/>
          </a:xfrm>
          <a:custGeom>
            <a:avLst/>
            <a:gdLst/>
            <a:ahLst/>
            <a:cxnLst/>
            <a:rect r="r" b="b" t="t" l="l"/>
            <a:pathLst>
              <a:path h="6356958" w="3631412">
                <a:moveTo>
                  <a:pt x="0" y="0"/>
                </a:moveTo>
                <a:lnTo>
                  <a:pt x="3631413" y="0"/>
                </a:lnTo>
                <a:lnTo>
                  <a:pt x="3631413" y="6356958"/>
                </a:lnTo>
                <a:lnTo>
                  <a:pt x="0" y="6356958"/>
                </a:lnTo>
                <a:lnTo>
                  <a:pt x="0" y="0"/>
                </a:lnTo>
                <a:close/>
              </a:path>
            </a:pathLst>
          </a:custGeom>
          <a:blipFill>
            <a:blip r:embed="rId7"/>
            <a:stretch>
              <a:fillRect l="0" t="0" r="0" b="0"/>
            </a:stretch>
          </a:blipFill>
        </p:spPr>
      </p:sp>
      <p:sp>
        <p:nvSpPr>
          <p:cNvPr name="TextBox 13" id="13"/>
          <p:cNvSpPr txBox="true"/>
          <p:nvPr/>
        </p:nvSpPr>
        <p:spPr>
          <a:xfrm rot="0">
            <a:off x="17647920" y="9239364"/>
            <a:ext cx="1018268" cy="438150"/>
          </a:xfrm>
          <a:prstGeom prst="rect">
            <a:avLst/>
          </a:prstGeom>
        </p:spPr>
        <p:txBody>
          <a:bodyPr anchor="t" rtlCol="false" tIns="0" lIns="0" bIns="0" rIns="0">
            <a:spAutoFit/>
          </a:bodyPr>
          <a:lstStyle/>
          <a:p>
            <a:pPr algn="l">
              <a:lnSpc>
                <a:spcPts val="3359"/>
              </a:lnSpc>
            </a:pPr>
            <a:r>
              <a:rPr lang="en-US" sz="2799">
                <a:solidFill>
                  <a:srgbClr val="000000"/>
                </a:solidFill>
                <a:latin typeface="Arial"/>
                <a:ea typeface="Arial"/>
                <a:cs typeface="Arial"/>
                <a:sym typeface="Arial"/>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91404"/>
            <a:ext cx="18288000" cy="195596"/>
            <a:chOff x="0" y="0"/>
            <a:chExt cx="24384000" cy="260794"/>
          </a:xfrm>
        </p:grpSpPr>
        <p:sp>
          <p:nvSpPr>
            <p:cNvPr name="Freeform 3" id="3"/>
            <p:cNvSpPr/>
            <p:nvPr/>
          </p:nvSpPr>
          <p:spPr>
            <a:xfrm flipH="false" flipV="false" rot="0">
              <a:off x="0" y="0"/>
              <a:ext cx="24384000" cy="260858"/>
            </a:xfrm>
            <a:custGeom>
              <a:avLst/>
              <a:gdLst/>
              <a:ahLst/>
              <a:cxnLst/>
              <a:rect r="r" b="b" t="t" l="l"/>
              <a:pathLst>
                <a:path h="260858" w="24384000">
                  <a:moveTo>
                    <a:pt x="0" y="0"/>
                  </a:moveTo>
                  <a:lnTo>
                    <a:pt x="24384000" y="0"/>
                  </a:lnTo>
                  <a:lnTo>
                    <a:pt x="24384000" y="260858"/>
                  </a:lnTo>
                  <a:lnTo>
                    <a:pt x="0" y="260858"/>
                  </a:lnTo>
                  <a:close/>
                </a:path>
              </a:pathLst>
            </a:custGeom>
            <a:solidFill>
              <a:srgbClr val="CCA677"/>
            </a:solidFill>
          </p:spPr>
        </p:sp>
      </p:grpSp>
      <p:grpSp>
        <p:nvGrpSpPr>
          <p:cNvPr name="Group 4" id="4"/>
          <p:cNvGrpSpPr/>
          <p:nvPr/>
        </p:nvGrpSpPr>
        <p:grpSpPr>
          <a:xfrm rot="0">
            <a:off x="623402" y="-3668"/>
            <a:ext cx="17041197" cy="1662600"/>
            <a:chOff x="0" y="0"/>
            <a:chExt cx="22721595" cy="2216800"/>
          </a:xfrm>
        </p:grpSpPr>
        <p:sp>
          <p:nvSpPr>
            <p:cNvPr name="Freeform 5" id="5"/>
            <p:cNvSpPr/>
            <p:nvPr/>
          </p:nvSpPr>
          <p:spPr>
            <a:xfrm flipH="false" flipV="false" rot="0">
              <a:off x="0" y="0"/>
              <a:ext cx="22721601" cy="2216802"/>
            </a:xfrm>
            <a:custGeom>
              <a:avLst/>
              <a:gdLst/>
              <a:ahLst/>
              <a:cxnLst/>
              <a:rect r="r" b="b" t="t" l="l"/>
              <a:pathLst>
                <a:path h="2216802" w="22721601">
                  <a:moveTo>
                    <a:pt x="0" y="0"/>
                  </a:moveTo>
                  <a:lnTo>
                    <a:pt x="22721601" y="0"/>
                  </a:lnTo>
                  <a:lnTo>
                    <a:pt x="22721601" y="2216802"/>
                  </a:lnTo>
                  <a:lnTo>
                    <a:pt x="0" y="2216802"/>
                  </a:lnTo>
                  <a:close/>
                </a:path>
              </a:pathLst>
            </a:custGeom>
            <a:blipFill>
              <a:blip r:embed="rId2">
                <a:alphaModFix amt="0"/>
              </a:blip>
              <a:stretch>
                <a:fillRect l="0" t="-149716" r="0" b="-149716"/>
              </a:stretch>
            </a:blipFill>
          </p:spPr>
        </p:sp>
        <p:sp>
          <p:nvSpPr>
            <p:cNvPr name="TextBox 6" id="6"/>
            <p:cNvSpPr txBox="true"/>
            <p:nvPr/>
          </p:nvSpPr>
          <p:spPr>
            <a:xfrm>
              <a:off x="0" y="-190500"/>
              <a:ext cx="22721595" cy="2407300"/>
            </a:xfrm>
            <a:prstGeom prst="rect">
              <a:avLst/>
            </a:prstGeom>
          </p:spPr>
          <p:txBody>
            <a:bodyPr anchor="b" rtlCol="false" tIns="0" lIns="0" bIns="0" rIns="0"/>
            <a:lstStyle/>
            <a:p>
              <a:pPr algn="l">
                <a:lnSpc>
                  <a:spcPts val="7200"/>
                </a:lnSpc>
              </a:pPr>
              <a:r>
                <a:rPr lang="en-US" sz="6000">
                  <a:solidFill>
                    <a:srgbClr val="000000"/>
                  </a:solidFill>
                  <a:latin typeface="Evolventa"/>
                  <a:ea typeface="Evolventa"/>
                  <a:cs typeface="Evolventa"/>
                  <a:sym typeface="Evolventa"/>
                </a:rPr>
                <a:t>Підсумки </a:t>
              </a:r>
            </a:p>
          </p:txBody>
        </p:sp>
      </p:grpSp>
      <p:sp>
        <p:nvSpPr>
          <p:cNvPr name="TextBox 7" id="7"/>
          <p:cNvSpPr txBox="true"/>
          <p:nvPr/>
        </p:nvSpPr>
        <p:spPr>
          <a:xfrm rot="0">
            <a:off x="1028700" y="1944682"/>
            <a:ext cx="16230600" cy="6330315"/>
          </a:xfrm>
          <a:prstGeom prst="rect">
            <a:avLst/>
          </a:prstGeom>
        </p:spPr>
        <p:txBody>
          <a:bodyPr anchor="t" rtlCol="false" tIns="0" lIns="0" bIns="0" rIns="0">
            <a:spAutoFit/>
          </a:bodyPr>
          <a:lstStyle/>
          <a:p>
            <a:pPr algn="l">
              <a:lnSpc>
                <a:spcPts val="5039"/>
              </a:lnSpc>
            </a:pPr>
            <a:r>
              <a:rPr lang="en-US" sz="2799">
                <a:solidFill>
                  <a:srgbClr val="000000"/>
                </a:solidFill>
                <a:latin typeface="Open Sans"/>
                <a:ea typeface="Open Sans"/>
                <a:cs typeface="Open Sans"/>
                <a:sym typeface="Open Sans"/>
              </a:rPr>
              <a:t>Р</a:t>
            </a:r>
            <a:r>
              <a:rPr lang="en-US" sz="2799">
                <a:solidFill>
                  <a:srgbClr val="000000"/>
                </a:solidFill>
                <a:latin typeface="Open Sans"/>
                <a:ea typeface="Open Sans"/>
                <a:cs typeface="Open Sans"/>
                <a:sym typeface="Open Sans"/>
              </a:rPr>
              <a:t>еалізовано демонстраційну версію мобільної гри у жанрі візуальної новели з елементами психологічного горору.</a:t>
            </a:r>
          </a:p>
          <a:p>
            <a:pPr algn="l">
              <a:lnSpc>
                <a:spcPts val="5039"/>
              </a:lnSpc>
            </a:pPr>
            <a:r>
              <a:rPr lang="en-US" sz="2799">
                <a:solidFill>
                  <a:srgbClr val="000000"/>
                </a:solidFill>
                <a:latin typeface="Open Sans"/>
                <a:ea typeface="Open Sans"/>
                <a:cs typeface="Open Sans"/>
                <a:sym typeface="Open Sans"/>
              </a:rPr>
              <a:t>Корисність: демонстрація можливості поєднання сюжетного геймплею, психологічної напруги та інтерактивного UI у форматі 2D мобільної гри.</a:t>
            </a:r>
          </a:p>
          <a:p>
            <a:pPr algn="l">
              <a:lnSpc>
                <a:spcPts val="5039"/>
              </a:lnSpc>
            </a:pPr>
            <a:r>
              <a:rPr lang="en-US" sz="2799">
                <a:solidFill>
                  <a:srgbClr val="000000"/>
                </a:solidFill>
                <a:latin typeface="Open Sans"/>
                <a:ea typeface="Open Sans"/>
                <a:cs typeface="Open Sans"/>
                <a:sym typeface="Open Sans"/>
              </a:rPr>
              <a:t>Можливості розвитку:</a:t>
            </a:r>
          </a:p>
          <a:p>
            <a:pPr algn="l" marL="604519" indent="-302260" lvl="1">
              <a:lnSpc>
                <a:spcPts val="5039"/>
              </a:lnSpc>
              <a:buFont typeface="Arial"/>
              <a:buChar char="•"/>
            </a:pPr>
            <a:r>
              <a:rPr lang="en-US" sz="2799">
                <a:solidFill>
                  <a:srgbClr val="000000"/>
                </a:solidFill>
                <a:latin typeface="Open Sans"/>
                <a:ea typeface="Open Sans"/>
                <a:cs typeface="Open Sans"/>
                <a:sym typeface="Open Sans"/>
              </a:rPr>
              <a:t>розширення сюжетних сцен;</a:t>
            </a:r>
          </a:p>
          <a:p>
            <a:pPr algn="l" marL="604519" indent="-302260" lvl="1">
              <a:lnSpc>
                <a:spcPts val="5039"/>
              </a:lnSpc>
              <a:buFont typeface="Arial"/>
              <a:buChar char="•"/>
            </a:pPr>
            <a:r>
              <a:rPr lang="en-US" sz="2799">
                <a:solidFill>
                  <a:srgbClr val="000000"/>
                </a:solidFill>
                <a:latin typeface="Open Sans"/>
                <a:ea typeface="Open Sans"/>
                <a:cs typeface="Open Sans"/>
                <a:sym typeface="Open Sans"/>
              </a:rPr>
              <a:t>додавання варіативних виборів;</a:t>
            </a:r>
          </a:p>
          <a:p>
            <a:pPr algn="l" marL="604519" indent="-302260" lvl="1">
              <a:lnSpc>
                <a:spcPts val="5039"/>
              </a:lnSpc>
              <a:buFont typeface="Arial"/>
              <a:buChar char="•"/>
            </a:pPr>
            <a:r>
              <a:rPr lang="en-US" sz="2799">
                <a:solidFill>
                  <a:srgbClr val="000000"/>
                </a:solidFill>
                <a:latin typeface="Open Sans"/>
                <a:ea typeface="Open Sans"/>
                <a:cs typeface="Open Sans"/>
                <a:sym typeface="Open Sans"/>
              </a:rPr>
              <a:t>вдосконалення аудіо та візуальних ефектів;</a:t>
            </a:r>
          </a:p>
          <a:p>
            <a:pPr algn="l" marL="604519" indent="-302260" lvl="1">
              <a:lnSpc>
                <a:spcPts val="5039"/>
              </a:lnSpc>
              <a:buFont typeface="Arial"/>
              <a:buChar char="•"/>
            </a:pPr>
            <a:r>
              <a:rPr lang="en-US" sz="2799">
                <a:solidFill>
                  <a:srgbClr val="000000"/>
                </a:solidFill>
                <a:latin typeface="Open Sans"/>
                <a:ea typeface="Open Sans"/>
                <a:cs typeface="Open Sans"/>
                <a:sym typeface="Open Sans"/>
              </a:rPr>
              <a:t>додавання більшої динамічності геймплею.</a:t>
            </a:r>
          </a:p>
          <a:p>
            <a:pPr algn="l">
              <a:lnSpc>
                <a:spcPts val="5039"/>
              </a:lnSpc>
            </a:pPr>
          </a:p>
        </p:txBody>
      </p:sp>
      <p:grpSp>
        <p:nvGrpSpPr>
          <p:cNvPr name="Group 8" id="8"/>
          <p:cNvGrpSpPr/>
          <p:nvPr/>
        </p:nvGrpSpPr>
        <p:grpSpPr>
          <a:xfrm rot="0">
            <a:off x="537848" y="8719004"/>
            <a:ext cx="1724501" cy="1163498"/>
            <a:chOff x="0" y="0"/>
            <a:chExt cx="2299335" cy="1551330"/>
          </a:xfrm>
        </p:grpSpPr>
        <p:sp>
          <p:nvSpPr>
            <p:cNvPr name="Freeform 9" id="9"/>
            <p:cNvSpPr/>
            <p:nvPr/>
          </p:nvSpPr>
          <p:spPr>
            <a:xfrm flipH="false" flipV="false" rot="0">
              <a:off x="0" y="0"/>
              <a:ext cx="2299335" cy="1551305"/>
            </a:xfrm>
            <a:custGeom>
              <a:avLst/>
              <a:gdLst/>
              <a:ahLst/>
              <a:cxnLst/>
              <a:rect r="r" b="b" t="t" l="l"/>
              <a:pathLst>
                <a:path h="1551305" w="2299335">
                  <a:moveTo>
                    <a:pt x="0" y="0"/>
                  </a:moveTo>
                  <a:lnTo>
                    <a:pt x="2299335" y="0"/>
                  </a:lnTo>
                  <a:lnTo>
                    <a:pt x="2299335" y="1551305"/>
                  </a:lnTo>
                  <a:lnTo>
                    <a:pt x="0" y="1551305"/>
                  </a:lnTo>
                  <a:lnTo>
                    <a:pt x="0" y="0"/>
                  </a:lnTo>
                  <a:close/>
                </a:path>
              </a:pathLst>
            </a:custGeom>
            <a:blipFill>
              <a:blip r:embed="rId3"/>
              <a:stretch>
                <a:fillRect l="0" t="0" r="0" b="-2"/>
              </a:stretch>
            </a:blipFill>
          </p:spPr>
        </p:sp>
      </p:grpSp>
      <p:sp>
        <p:nvSpPr>
          <p:cNvPr name="TextBox 10" id="10"/>
          <p:cNvSpPr txBox="true"/>
          <p:nvPr/>
        </p:nvSpPr>
        <p:spPr>
          <a:xfrm rot="0">
            <a:off x="17647920" y="9239364"/>
            <a:ext cx="640080" cy="438150"/>
          </a:xfrm>
          <a:prstGeom prst="rect">
            <a:avLst/>
          </a:prstGeom>
        </p:spPr>
        <p:txBody>
          <a:bodyPr anchor="t" rtlCol="false" tIns="0" lIns="0" bIns="0" rIns="0">
            <a:spAutoFit/>
          </a:bodyPr>
          <a:lstStyle/>
          <a:p>
            <a:pPr algn="l">
              <a:lnSpc>
                <a:spcPts val="3359"/>
              </a:lnSpc>
            </a:pPr>
            <a:r>
              <a:rPr lang="en-US" sz="2799">
                <a:solidFill>
                  <a:srgbClr val="000000"/>
                </a:solidFill>
                <a:latin typeface="Arial"/>
                <a:ea typeface="Arial"/>
                <a:cs typeface="Arial"/>
                <a:sym typeface="Arial"/>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DAHJ6v_k77s</dc:identifier>
  <dcterms:modified xsi:type="dcterms:W3CDTF">2011-08-01T06:04:30Z</dcterms:modified>
  <cp:revision>1</cp:revision>
  <dc:title>2025_Б_ККП_ПЗПІ-23-3_Ходаницька_Є_В</dc:title>
</cp:coreProperties>
</file>